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8" r:id="rId8"/>
    <p:sldId id="262" r:id="rId9"/>
    <p:sldId id="263" r:id="rId10"/>
    <p:sldId id="264" r:id="rId11"/>
    <p:sldId id="265" r:id="rId12"/>
    <p:sldId id="269" r:id="rId13"/>
    <p:sldId id="272" r:id="rId14"/>
    <p:sldId id="271" r:id="rId15"/>
    <p:sldId id="267" r:id="rId16"/>
    <p:sldId id="273"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71" autoAdjust="0"/>
    <p:restoredTop sz="94610"/>
  </p:normalViewPr>
  <p:slideViewPr>
    <p:cSldViewPr snapToGrid="0" snapToObjects="1">
      <p:cViewPr varScale="1">
        <p:scale>
          <a:sx n="146" d="100"/>
          <a:sy n="146" d="100"/>
        </p:scale>
        <p:origin x="52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ROC-AUC CV</c:v>
                </c:pt>
              </c:strCache>
            </c:strRef>
          </c:tx>
          <c:spPr>
            <a:solidFill>
              <a:srgbClr val="A0B8D0"/>
            </a:solidFill>
            <a:effectLst/>
          </c:spPr>
          <c:invertIfNegative val="0"/>
          <c:dPt>
            <c:idx val="0"/>
            <c:invertIfNegative val="0"/>
            <c:bubble3D val="0"/>
            <c:extLst>
              <c:ext xmlns:c16="http://schemas.microsoft.com/office/drawing/2014/chart" uri="{C3380CC4-5D6E-409C-BE32-E72D297353CC}">
                <c16:uniqueId val="{00000001-112C-48D5-8E5B-C887CD052978}"/>
              </c:ext>
            </c:extLst>
          </c:dPt>
          <c:dPt>
            <c:idx val="1"/>
            <c:invertIfNegative val="0"/>
            <c:bubble3D val="0"/>
            <c:extLst>
              <c:ext xmlns:c16="http://schemas.microsoft.com/office/drawing/2014/chart" uri="{C3380CC4-5D6E-409C-BE32-E72D297353CC}">
                <c16:uniqueId val="{00000003-112C-48D5-8E5B-C887CD052978}"/>
              </c:ext>
            </c:extLst>
          </c:dPt>
          <c:dPt>
            <c:idx val="2"/>
            <c:invertIfNegative val="0"/>
            <c:bubble3D val="0"/>
            <c:extLst>
              <c:ext xmlns:c16="http://schemas.microsoft.com/office/drawing/2014/chart" uri="{C3380CC4-5D6E-409C-BE32-E72D297353CC}">
                <c16:uniqueId val="{00000005-112C-48D5-8E5B-C887CD052978}"/>
              </c:ext>
            </c:extLst>
          </c:dPt>
          <c:dPt>
            <c:idx val="3"/>
            <c:invertIfNegative val="0"/>
            <c:bubble3D val="0"/>
            <c:spPr>
              <a:solidFill>
                <a:srgbClr val="E8A020"/>
              </a:solidFill>
              <a:effectLst/>
            </c:spPr>
            <c:extLst>
              <c:ext xmlns:c16="http://schemas.microsoft.com/office/drawing/2014/chart" uri="{C3380CC4-5D6E-409C-BE32-E72D297353CC}">
                <c16:uniqueId val="{00000007-112C-48D5-8E5B-C887CD052978}"/>
              </c:ext>
            </c:extLst>
          </c:dPt>
          <c:dLbls>
            <c:numFmt formatCode="#,##0" sourceLinked="0"/>
            <c:spPr>
              <a:noFill/>
              <a:ln>
                <a:noFill/>
              </a:ln>
              <a:effectLst/>
            </c:spPr>
            <c:txPr>
              <a:bodyPr/>
              <a:lstStyle/>
              <a:p>
                <a:pPr>
                  <a:defRPr sz="1200" b="0" i="0" u="none" strike="noStrike">
                    <a:solidFill>
                      <a:srgbClr val="2C3E50"/>
                    </a:solidFill>
                    <a:latin typeface="Arial"/>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Regresión
Logística</c:v>
                </c:pt>
                <c:pt idx="1">
                  <c:v>Árbol de
Decisión</c:v>
                </c:pt>
                <c:pt idx="2">
                  <c:v>Random
Forest</c:v>
                </c:pt>
                <c:pt idx="3">
                  <c:v>XGBoost</c:v>
                </c:pt>
              </c:strCache>
            </c:strRef>
          </c:cat>
          <c:val>
            <c:numRef>
              <c:f>Sheet1!$B$2:$B$5</c:f>
              <c:numCache>
                <c:formatCode>General</c:formatCode>
                <c:ptCount val="4"/>
                <c:pt idx="0">
                  <c:v>0.69499999999999995</c:v>
                </c:pt>
                <c:pt idx="1">
                  <c:v>0.73040000000000005</c:v>
                </c:pt>
                <c:pt idx="2">
                  <c:v>0.74390000000000001</c:v>
                </c:pt>
                <c:pt idx="3">
                  <c:v>0.76400000000000001</c:v>
                </c:pt>
              </c:numCache>
            </c:numRef>
          </c:val>
          <c:extLst>
            <c:ext xmlns:c16="http://schemas.microsoft.com/office/drawing/2014/chart" uri="{C3380CC4-5D6E-409C-BE32-E72D297353CC}">
              <c16:uniqueId val="{00000008-112C-48D5-8E5B-C887CD05297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s-CO"/>
          </a:p>
        </c:txPr>
        <c:crossAx val="2094734552"/>
        <c:crosses val="autoZero"/>
        <c:auto val="1"/>
        <c:lblAlgn val="ctr"/>
        <c:lblOffset val="100"/>
        <c:noMultiLvlLbl val="1"/>
      </c:catAx>
      <c:valAx>
        <c:axId val="2094734552"/>
        <c:scaling>
          <c:orientation val="minMax"/>
          <c:max val="0.8"/>
          <c:min val="0.6"/>
        </c:scaling>
        <c:delete val="0"/>
        <c:axPos val="l"/>
        <c:majorGridlines>
          <c:spPr>
            <a:ln w="6350" cap="flat">
              <a:solidFill>
                <a:srgbClr val="D5E3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s-CO"/>
          </a:p>
        </c:txPr>
        <c:crossAx val="2094734554"/>
        <c:crosses val="autoZero"/>
        <c:crossBetween val="between"/>
      </c:valAx>
      <c:spPr>
        <a:noFill/>
        <a:ln>
          <a:noFill/>
        </a:ln>
        <a:effectLst/>
      </c:spPr>
    </c:plotArea>
    <c:plotVisOnly val="1"/>
    <c:dispBlanksAs val="span"/>
    <c:showDLblsOverMax val="1"/>
  </c:chart>
  <c:spPr>
    <a:solidFill>
      <a:srgbClr val="F4F7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979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9A96E-E542-EFD8-DF8B-397D40934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CF1EE-6370-ADA5-BFA4-30946FF49C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2E6557-0406-2E22-8E63-C98F46DEBD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2DAE60-3DF2-A8CE-777F-7FC3802A61F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635347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7BA47-79A2-8482-B943-7FE5367E1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679F08-C557-B160-0FDA-829B49D8F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F41E54-31D0-5831-BB26-D34A76B387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E8CCCE-0706-1DBF-A596-044135BD4AD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05393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960FD-CEF4-A387-C8BD-7F8C6075A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70985-440F-65B5-994E-80805031D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96B47-5F12-AFBD-95F6-4A3DEA9208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B82887-E302-DD90-118E-8185B03C1BA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764887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63706-72DA-E797-4CB1-16B059A5C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89E59-28D1-6582-6A32-BD9447C2D5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51AD62-75D3-5AA9-BF77-3999EF5EA4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9FE64E-E063-EB28-5D20-1CBA7E7858C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45107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5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020"/>
          </a:solidFill>
          <a:ln w="12700">
            <a:solidFill>
              <a:srgbClr val="E8A020"/>
            </a:solidFill>
            <a:prstDash val="solid"/>
          </a:ln>
        </p:spPr>
        <p:txBody>
          <a:bodyPr/>
          <a:lstStyle/>
          <a:p>
            <a:endParaRPr lang="es-CO"/>
          </a:p>
        </p:txBody>
      </p:sp>
      <p:sp>
        <p:nvSpPr>
          <p:cNvPr id="3" name="Text 1"/>
          <p:cNvSpPr/>
          <p:nvPr/>
        </p:nvSpPr>
        <p:spPr>
          <a:xfrm>
            <a:off x="548640" y="1005840"/>
            <a:ext cx="8046720" cy="109728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GEIH — Predicción de Migración Interna</a:t>
            </a:r>
            <a:endParaRPr lang="en-US" sz="3400" dirty="0"/>
          </a:p>
        </p:txBody>
      </p:sp>
      <p:sp>
        <p:nvSpPr>
          <p:cNvPr id="4" name="Text 2"/>
          <p:cNvSpPr/>
          <p:nvPr/>
        </p:nvSpPr>
        <p:spPr>
          <a:xfrm>
            <a:off x="548640" y="2286000"/>
            <a:ext cx="8046720" cy="640080"/>
          </a:xfrm>
          <a:prstGeom prst="rect">
            <a:avLst/>
          </a:prstGeom>
          <a:noFill/>
          <a:ln/>
        </p:spPr>
        <p:txBody>
          <a:bodyPr wrap="square" rtlCol="0" anchor="ctr"/>
          <a:lstStyle/>
          <a:p>
            <a:pPr marL="0" indent="0" algn="ctr">
              <a:buNone/>
            </a:pPr>
            <a:r>
              <a:rPr lang="en-US" sz="1800" dirty="0">
                <a:solidFill>
                  <a:srgbClr val="B0C8E0"/>
                </a:solidFill>
                <a:latin typeface="Calibri" pitchFamily="34" charset="0"/>
                <a:ea typeface="Calibri" pitchFamily="34" charset="-122"/>
                <a:cs typeface="Calibri" pitchFamily="34" charset="-120"/>
              </a:rPr>
              <a:t>Análisis de Resultados del Modelo de Machine Learning</a:t>
            </a:r>
            <a:endParaRPr lang="en-US" sz="1800" dirty="0"/>
          </a:p>
        </p:txBody>
      </p:sp>
      <p:sp>
        <p:nvSpPr>
          <p:cNvPr id="5" name="Shape 3"/>
          <p:cNvSpPr/>
          <p:nvPr/>
        </p:nvSpPr>
        <p:spPr>
          <a:xfrm>
            <a:off x="3200400" y="3063240"/>
            <a:ext cx="2743200" cy="45720"/>
          </a:xfrm>
          <a:prstGeom prst="rect">
            <a:avLst/>
          </a:prstGeom>
          <a:solidFill>
            <a:srgbClr val="E8A020"/>
          </a:solidFill>
          <a:ln w="12700">
            <a:solidFill>
              <a:srgbClr val="E8A020"/>
            </a:solidFill>
            <a:prstDash val="solid"/>
          </a:ln>
        </p:spPr>
        <p:txBody>
          <a:bodyPr/>
          <a:lstStyle/>
          <a:p>
            <a:endParaRPr lang="es-CO"/>
          </a:p>
        </p:txBody>
      </p:sp>
      <p:sp>
        <p:nvSpPr>
          <p:cNvPr id="6" name="Text 4"/>
          <p:cNvSpPr/>
          <p:nvPr/>
        </p:nvSpPr>
        <p:spPr>
          <a:xfrm>
            <a:off x="548640" y="3291840"/>
            <a:ext cx="8046720" cy="457200"/>
          </a:xfrm>
          <a:prstGeom prst="rect">
            <a:avLst/>
          </a:prstGeom>
          <a:noFill/>
          <a:ln/>
        </p:spPr>
        <p:txBody>
          <a:bodyPr wrap="square" rtlCol="0" anchor="ctr"/>
          <a:lstStyle/>
          <a:p>
            <a:pPr marL="0" indent="0" algn="ctr">
              <a:buNone/>
            </a:pPr>
            <a:r>
              <a:rPr lang="en-US" sz="1400" i="1" dirty="0">
                <a:solidFill>
                  <a:srgbClr val="90A8C0"/>
                </a:solidFill>
                <a:latin typeface="Calibri" pitchFamily="34" charset="0"/>
                <a:ea typeface="Calibri" pitchFamily="34" charset="-122"/>
                <a:cs typeface="Calibri" pitchFamily="34" charset="-120"/>
              </a:rPr>
              <a:t>Juan Esteban Samaniego//Alan Steven Rios//Sebastian Casas</a:t>
            </a:r>
            <a:endParaRPr lang="en-US" sz="1400" dirty="0"/>
          </a:p>
        </p:txBody>
      </p:sp>
      <p:sp>
        <p:nvSpPr>
          <p:cNvPr id="19" name="Shape 17"/>
          <p:cNvSpPr/>
          <p:nvPr/>
        </p:nvSpPr>
        <p:spPr>
          <a:xfrm>
            <a:off x="0" y="5047488"/>
            <a:ext cx="9144000" cy="91440"/>
          </a:xfrm>
          <a:prstGeom prst="rect">
            <a:avLst/>
          </a:prstGeom>
          <a:solidFill>
            <a:srgbClr val="0D6E8A"/>
          </a:solidFill>
          <a:ln w="12700">
            <a:solidFill>
              <a:srgbClr val="0D6E8A"/>
            </a:solidFill>
            <a:prstDash val="solid"/>
          </a:ln>
        </p:spPr>
        <p:txBody>
          <a:bodyPr/>
          <a:lstStyle/>
          <a:p>
            <a:endParaRPr lang="es-CO"/>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E5A"/>
          </a:solidFill>
          <a:ln w="12700">
            <a:solidFill>
              <a:srgbClr val="1A2E5A"/>
            </a:solidFill>
            <a:prstDash val="solid"/>
          </a:ln>
        </p:spPr>
        <p:txBody>
          <a:bodyPr/>
          <a:lstStyle/>
          <a:p>
            <a:endParaRPr lang="es-CO"/>
          </a:p>
        </p:txBody>
      </p:sp>
      <p:sp>
        <p:nvSpPr>
          <p:cNvPr id="3" name="Shape 1"/>
          <p:cNvSpPr/>
          <p:nvPr/>
        </p:nvSpPr>
        <p:spPr>
          <a:xfrm>
            <a:off x="0" y="0"/>
            <a:ext cx="365760" cy="713232"/>
          </a:xfrm>
          <a:prstGeom prst="rect">
            <a:avLst/>
          </a:prstGeom>
          <a:solidFill>
            <a:srgbClr val="E8A020"/>
          </a:solidFill>
          <a:ln w="12700">
            <a:solidFill>
              <a:srgbClr val="E8A020"/>
            </a:solidFill>
            <a:prstDash val="solid"/>
          </a:ln>
        </p:spPr>
        <p:txBody>
          <a:bodyPr/>
          <a:lstStyle/>
          <a:p>
            <a:endParaRPr lang="es-CO"/>
          </a:p>
        </p:txBody>
      </p:sp>
      <p:sp>
        <p:nvSpPr>
          <p:cNvPr id="4" name="Text 2"/>
          <p:cNvSpPr/>
          <p:nvPr/>
        </p:nvSpPr>
        <p:spPr>
          <a:xfrm>
            <a:off x="502920" y="0"/>
            <a:ext cx="8412480" cy="713232"/>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5. Preprocesamiento</a:t>
            </a:r>
            <a:endParaRPr lang="en-US" sz="2200" dirty="0"/>
          </a:p>
        </p:txBody>
      </p:sp>
      <p:sp>
        <p:nvSpPr>
          <p:cNvPr id="5" name="Text 3"/>
          <p:cNvSpPr/>
          <p:nvPr/>
        </p:nvSpPr>
        <p:spPr>
          <a:xfrm>
            <a:off x="502920" y="0"/>
            <a:ext cx="8412480" cy="713232"/>
          </a:xfrm>
          <a:prstGeom prst="rect">
            <a:avLst/>
          </a:prstGeom>
          <a:noFill/>
          <a:ln/>
        </p:spPr>
        <p:txBody>
          <a:bodyPr wrap="square" rtlCol="0" anchor="ctr"/>
          <a:lstStyle/>
          <a:p>
            <a:pPr marL="0" indent="0" algn="r">
              <a:buNone/>
            </a:pPr>
            <a:r>
              <a:rPr lang="en-US" sz="1300" dirty="0">
                <a:solidFill>
                  <a:srgbClr val="90B8D0"/>
                </a:solidFill>
                <a:latin typeface="Calibri" pitchFamily="34" charset="0"/>
                <a:ea typeface="Calibri" pitchFamily="34" charset="-122"/>
                <a:cs typeface="Calibri" pitchFamily="34" charset="-120"/>
              </a:rPr>
              <a:t>Fit solo en train, transform en ambos</a:t>
            </a:r>
            <a:endParaRPr lang="en-US" sz="1300" dirty="0"/>
          </a:p>
        </p:txBody>
      </p:sp>
      <p:sp>
        <p:nvSpPr>
          <p:cNvPr id="6" name="Text 4"/>
          <p:cNvSpPr/>
          <p:nvPr/>
        </p:nvSpPr>
        <p:spPr>
          <a:xfrm>
            <a:off x="365760" y="868680"/>
            <a:ext cx="8412480" cy="320040"/>
          </a:xfrm>
          <a:prstGeom prst="rect">
            <a:avLst/>
          </a:prstGeom>
          <a:noFill/>
          <a:ln/>
        </p:spPr>
        <p:txBody>
          <a:bodyPr wrap="square" rtlCol="0" anchor="ctr"/>
          <a:lstStyle/>
          <a:p>
            <a:pPr marL="0" indent="0">
              <a:buNone/>
            </a:pPr>
            <a:r>
              <a:rPr lang="en-US" sz="1300" b="1" dirty="0">
                <a:solidFill>
                  <a:srgbClr val="0D6E8A"/>
                </a:solidFill>
                <a:latin typeface="Calibri" pitchFamily="34" charset="0"/>
                <a:ea typeface="Calibri" pitchFamily="34" charset="-122"/>
                <a:cs typeface="Calibri" pitchFamily="34" charset="-120"/>
              </a:rPr>
              <a:t>¿Qué se hizo?</a:t>
            </a:r>
            <a:endParaRPr lang="en-US" sz="1300" dirty="0"/>
          </a:p>
        </p:txBody>
      </p:sp>
      <p:sp>
        <p:nvSpPr>
          <p:cNvPr id="7" name="Text 5"/>
          <p:cNvSpPr/>
          <p:nvPr/>
        </p:nvSpPr>
        <p:spPr>
          <a:xfrm>
            <a:off x="365760" y="1170432"/>
            <a:ext cx="8412480" cy="50292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Se resolvió el problema de data leakage: el StandardScaler y todos los valores de imputación (medianas y modas) se calcularon únicamente con los datos de entrenamiento. Luego esos mismos valores se aplicaron al test sin recalcularlos.</a:t>
            </a:r>
            <a:endParaRPr lang="en-US" sz="1150" dirty="0"/>
          </a:p>
        </p:txBody>
      </p:sp>
      <p:sp>
        <p:nvSpPr>
          <p:cNvPr id="8" name="Shape 6"/>
          <p:cNvSpPr/>
          <p:nvPr/>
        </p:nvSpPr>
        <p:spPr>
          <a:xfrm>
            <a:off x="274320" y="1755648"/>
            <a:ext cx="2743200" cy="347472"/>
          </a:xfrm>
          <a:prstGeom prst="rect">
            <a:avLst/>
          </a:prstGeom>
          <a:solidFill>
            <a:srgbClr val="0D6E8A"/>
          </a:solidFill>
          <a:ln w="12700">
            <a:solidFill>
              <a:srgbClr val="0D6E8A"/>
            </a:solidFill>
            <a:prstDash val="solid"/>
          </a:ln>
        </p:spPr>
        <p:txBody>
          <a:bodyPr/>
          <a:lstStyle/>
          <a:p>
            <a:endParaRPr lang="es-CO"/>
          </a:p>
        </p:txBody>
      </p:sp>
      <p:sp>
        <p:nvSpPr>
          <p:cNvPr id="9" name="Text 7"/>
          <p:cNvSpPr/>
          <p:nvPr/>
        </p:nvSpPr>
        <p:spPr>
          <a:xfrm>
            <a:off x="274320" y="1755648"/>
            <a:ext cx="27432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Imputadas c/ Mediana (train)</a:t>
            </a:r>
            <a:endParaRPr lang="en-US" sz="1000" dirty="0"/>
          </a:p>
        </p:txBody>
      </p:sp>
      <p:sp>
        <p:nvSpPr>
          <p:cNvPr id="10" name="Text 8"/>
          <p:cNvSpPr/>
          <p:nvPr/>
        </p:nvSpPr>
        <p:spPr>
          <a:xfrm>
            <a:off x="274320" y="2121408"/>
            <a:ext cx="2743200" cy="1005840"/>
          </a:xfrm>
          <a:prstGeom prst="rect">
            <a:avLst/>
          </a:prstGeom>
          <a:noFill/>
          <a:ln/>
        </p:spPr>
        <p:txBody>
          <a:bodyPr wrap="square" rtlCol="0" anchor="ctr"/>
          <a:lstStyle/>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edad</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ingreso_total</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log_ingreso</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Educacion</a:t>
            </a:r>
            <a:endParaRPr lang="en-US" sz="1050" dirty="0"/>
          </a:p>
        </p:txBody>
      </p:sp>
      <p:sp>
        <p:nvSpPr>
          <p:cNvPr id="11" name="Shape 9"/>
          <p:cNvSpPr/>
          <p:nvPr/>
        </p:nvSpPr>
        <p:spPr>
          <a:xfrm>
            <a:off x="3200400" y="1755648"/>
            <a:ext cx="2743200" cy="347472"/>
          </a:xfrm>
          <a:prstGeom prst="rect">
            <a:avLst/>
          </a:prstGeom>
          <a:solidFill>
            <a:srgbClr val="6A5ACD"/>
          </a:solidFill>
          <a:ln w="12700">
            <a:solidFill>
              <a:srgbClr val="6A5ACD"/>
            </a:solidFill>
            <a:prstDash val="solid"/>
          </a:ln>
        </p:spPr>
        <p:txBody>
          <a:bodyPr/>
          <a:lstStyle/>
          <a:p>
            <a:endParaRPr lang="es-CO"/>
          </a:p>
        </p:txBody>
      </p:sp>
      <p:sp>
        <p:nvSpPr>
          <p:cNvPr id="12" name="Text 10"/>
          <p:cNvSpPr/>
          <p:nvPr/>
        </p:nvSpPr>
        <p:spPr>
          <a:xfrm>
            <a:off x="3200400" y="1755648"/>
            <a:ext cx="27432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Imputadas c/ Moda (train)</a:t>
            </a:r>
            <a:endParaRPr lang="en-US" sz="1000" dirty="0"/>
          </a:p>
        </p:txBody>
      </p:sp>
      <p:sp>
        <p:nvSpPr>
          <p:cNvPr id="13" name="Text 11"/>
          <p:cNvSpPr/>
          <p:nvPr/>
        </p:nvSpPr>
        <p:spPr>
          <a:xfrm>
            <a:off x="3200400" y="2121408"/>
            <a:ext cx="2743200" cy="2377440"/>
          </a:xfrm>
          <a:prstGeom prst="rect">
            <a:avLst/>
          </a:prstGeom>
          <a:noFill/>
          <a:ln/>
        </p:spPr>
        <p:txBody>
          <a:bodyPr wrap="square" rtlCol="0" anchor="ctr"/>
          <a:lstStyle/>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sexo</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clase</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grupo_edad</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formalidad</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estado_laboral</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afiliado_salud</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regimen_salud</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cotiza_salud</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cotiza_pension</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ocupado</a:t>
            </a:r>
            <a:endParaRPr lang="en-US" sz="1050" dirty="0"/>
          </a:p>
        </p:txBody>
      </p:sp>
      <p:sp>
        <p:nvSpPr>
          <p:cNvPr id="14" name="Shape 12"/>
          <p:cNvSpPr/>
          <p:nvPr/>
        </p:nvSpPr>
        <p:spPr>
          <a:xfrm>
            <a:off x="6126480" y="1755648"/>
            <a:ext cx="2743200" cy="347472"/>
          </a:xfrm>
          <a:prstGeom prst="rect">
            <a:avLst/>
          </a:prstGeom>
          <a:solidFill>
            <a:srgbClr val="E8A020"/>
          </a:solidFill>
          <a:ln w="12700">
            <a:solidFill>
              <a:srgbClr val="E8A020"/>
            </a:solidFill>
            <a:prstDash val="solid"/>
          </a:ln>
        </p:spPr>
        <p:txBody>
          <a:bodyPr/>
          <a:lstStyle/>
          <a:p>
            <a:endParaRPr lang="es-CO"/>
          </a:p>
        </p:txBody>
      </p:sp>
      <p:sp>
        <p:nvSpPr>
          <p:cNvPr id="15" name="Text 13"/>
          <p:cNvSpPr/>
          <p:nvPr/>
        </p:nvSpPr>
        <p:spPr>
          <a:xfrm>
            <a:off x="6126480" y="1755648"/>
            <a:ext cx="27432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Escaladas (StandardScaler)</a:t>
            </a:r>
            <a:endParaRPr lang="en-US" sz="1000" dirty="0"/>
          </a:p>
        </p:txBody>
      </p:sp>
      <p:sp>
        <p:nvSpPr>
          <p:cNvPr id="16" name="Text 14"/>
          <p:cNvSpPr/>
          <p:nvPr/>
        </p:nvSpPr>
        <p:spPr>
          <a:xfrm>
            <a:off x="6126480" y="2121408"/>
            <a:ext cx="2743200" cy="1234440"/>
          </a:xfrm>
          <a:prstGeom prst="rect">
            <a:avLst/>
          </a:prstGeom>
          <a:noFill/>
          <a:ln/>
        </p:spPr>
        <p:txBody>
          <a:bodyPr wrap="square" rtlCol="0" anchor="ctr"/>
          <a:lstStyle/>
          <a:p>
            <a:pPr marL="342900" indent="-342900">
              <a:buSzPct val="100000"/>
              <a:buChar char="•"/>
            </a:pPr>
            <a:r>
              <a:rPr lang="en-US" sz="1050" dirty="0" err="1">
                <a:solidFill>
                  <a:srgbClr val="2C3E50"/>
                </a:solidFill>
                <a:latin typeface="Calibri" pitchFamily="34" charset="0"/>
                <a:ea typeface="Calibri" pitchFamily="34" charset="-122"/>
                <a:cs typeface="Calibri" pitchFamily="34" charset="-120"/>
              </a:rPr>
              <a:t>edad</a:t>
            </a:r>
            <a:endParaRPr lang="en-US" sz="1050" dirty="0"/>
          </a:p>
          <a:p>
            <a:pPr marL="342900" indent="-342900">
              <a:buSzPct val="100000"/>
              <a:buChar char="•"/>
            </a:pPr>
            <a:r>
              <a:rPr lang="en-US" sz="1050" dirty="0">
                <a:solidFill>
                  <a:srgbClr val="2C3E50"/>
                </a:solidFill>
                <a:latin typeface="Calibri" pitchFamily="34" charset="0"/>
                <a:ea typeface="Calibri" pitchFamily="34" charset="-122"/>
                <a:cs typeface="Calibri" pitchFamily="34" charset="-120"/>
              </a:rPr>
              <a:t>ingreso_total</a:t>
            </a:r>
            <a:endParaRPr lang="en-US" sz="1050" dirty="0"/>
          </a:p>
          <a:p>
            <a:pPr marL="342900" indent="-342900">
              <a:buSzPct val="100000"/>
              <a:buChar char="•"/>
            </a:pPr>
            <a:r>
              <a:rPr lang="en-US" sz="1050" dirty="0" err="1">
                <a:solidFill>
                  <a:srgbClr val="2C3E50"/>
                </a:solidFill>
                <a:latin typeface="Calibri" pitchFamily="34" charset="0"/>
                <a:ea typeface="Calibri" pitchFamily="34" charset="-122"/>
                <a:cs typeface="Calibri" pitchFamily="34" charset="-120"/>
              </a:rPr>
              <a:t>log_ingreso</a:t>
            </a:r>
            <a:endParaRPr lang="en-US" sz="1050" dirty="0"/>
          </a:p>
        </p:txBody>
      </p:sp>
      <p:sp>
        <p:nvSpPr>
          <p:cNvPr id="17" name="Shape 15"/>
          <p:cNvSpPr/>
          <p:nvPr/>
        </p:nvSpPr>
        <p:spPr>
          <a:xfrm>
            <a:off x="274320" y="4169664"/>
            <a:ext cx="8595360" cy="585216"/>
          </a:xfrm>
          <a:prstGeom prst="rect">
            <a:avLst/>
          </a:prstGeom>
          <a:solidFill>
            <a:srgbClr val="EBF5EB"/>
          </a:solidFill>
          <a:ln w="19050">
            <a:solidFill>
              <a:srgbClr val="27AE60"/>
            </a:solidFill>
            <a:prstDash val="solid"/>
          </a:ln>
        </p:spPr>
        <p:txBody>
          <a:bodyPr/>
          <a:lstStyle/>
          <a:p>
            <a:endParaRPr lang="es-CO"/>
          </a:p>
        </p:txBody>
      </p:sp>
      <p:sp>
        <p:nvSpPr>
          <p:cNvPr id="18" name="Text 16"/>
          <p:cNvSpPr/>
          <p:nvPr/>
        </p:nvSpPr>
        <p:spPr>
          <a:xfrm>
            <a:off x="411480" y="3931920"/>
            <a:ext cx="3657600" cy="274320"/>
          </a:xfrm>
          <a:prstGeom prst="rect">
            <a:avLst/>
          </a:prstGeom>
          <a:noFill/>
          <a:ln/>
        </p:spPr>
        <p:txBody>
          <a:bodyPr wrap="square" rtlCol="0" anchor="ctr"/>
          <a:lstStyle/>
          <a:p>
            <a:pPr marL="0" indent="0">
              <a:buNone/>
            </a:pPr>
            <a:r>
              <a:rPr lang="en-US" sz="1100" b="1" dirty="0">
                <a:solidFill>
                  <a:srgbClr val="27AE60"/>
                </a:solidFill>
                <a:latin typeface="Calibri" pitchFamily="34" charset="0"/>
                <a:ea typeface="Calibri" pitchFamily="34" charset="-122"/>
                <a:cs typeface="Calibri" pitchFamily="34" charset="-120"/>
              </a:rPr>
              <a:t>✔ Resultado</a:t>
            </a:r>
            <a:endParaRPr lang="en-US" sz="1100" dirty="0"/>
          </a:p>
        </p:txBody>
      </p:sp>
      <p:sp>
        <p:nvSpPr>
          <p:cNvPr id="19" name="Text 17"/>
          <p:cNvSpPr/>
          <p:nvPr/>
        </p:nvSpPr>
        <p:spPr>
          <a:xfrm>
            <a:off x="411480" y="4169664"/>
            <a:ext cx="8321040" cy="530352"/>
          </a:xfrm>
          <a:prstGeom prst="rect">
            <a:avLst/>
          </a:prstGeom>
          <a:noFill/>
          <a:ln/>
        </p:spPr>
        <p:txBody>
          <a:bodyPr wrap="square" rtlCol="0" anchor="ctr"/>
          <a:lstStyle/>
          <a:p>
            <a:pPr marL="0" indent="0">
              <a:buNone/>
            </a:pPr>
            <a:r>
              <a:rPr lang="en-US" sz="1050" dirty="0">
                <a:solidFill>
                  <a:srgbClr val="2C3E50"/>
                </a:solidFill>
                <a:latin typeface="Calibri" pitchFamily="34" charset="0"/>
                <a:ea typeface="Calibri" pitchFamily="34" charset="-122"/>
                <a:cs typeface="Calibri" pitchFamily="34" charset="-120"/>
              </a:rPr>
              <a:t>X_train_proc: (2.741.995, 15) | NAs: 0     X_test_proc: (685.499, 15) | NAs: 0</a:t>
            </a:r>
            <a:endParaRPr lang="en-US" sz="1050" dirty="0"/>
          </a:p>
          <a:p>
            <a:pPr marL="0" indent="0">
              <a:buNone/>
            </a:pPr>
            <a:r>
              <a:rPr lang="en-US" sz="1050" dirty="0">
                <a:solidFill>
                  <a:srgbClr val="2C3E50"/>
                </a:solidFill>
                <a:latin typeface="Calibri" pitchFamily="34" charset="0"/>
                <a:ea typeface="Calibri" pitchFamily="34" charset="-122"/>
                <a:cs typeface="Calibri" pitchFamily="34" charset="-120"/>
              </a:rPr>
              <a:t>División: 80% train / 20% test. Medianas/modas aprendidas SOLO en train. Sin data leakage.</a:t>
            </a:r>
            <a:endParaRPr lang="en-US" sz="1050" dirty="0"/>
          </a:p>
        </p:txBody>
      </p:sp>
      <p:sp>
        <p:nvSpPr>
          <p:cNvPr id="20" name="Text 18"/>
          <p:cNvSpPr/>
          <p:nvPr/>
        </p:nvSpPr>
        <p:spPr>
          <a:xfrm>
            <a:off x="274320" y="4818888"/>
            <a:ext cx="8595360" cy="292608"/>
          </a:xfrm>
          <a:prstGeom prst="rect">
            <a:avLst/>
          </a:prstGeom>
          <a:noFill/>
          <a:ln/>
        </p:spPr>
        <p:txBody>
          <a:bodyPr wrap="square" rtlCol="0" anchor="ctr"/>
          <a:lstStyle/>
          <a:p>
            <a:pPr marL="0" indent="0">
              <a:buNone/>
            </a:pPr>
            <a:r>
              <a:rPr lang="en-US" sz="950" i="1" dirty="0">
                <a:solidFill>
                  <a:srgbClr val="718096"/>
                </a:solidFill>
                <a:latin typeface="Calibri" pitchFamily="34" charset="0"/>
                <a:ea typeface="Calibri" pitchFamily="34" charset="-122"/>
                <a:cs typeface="Calibri" pitchFamily="34" charset="-120"/>
              </a:rPr>
              <a:t>Lectura: La tabla de shape confirma cero valores nulos en ambos conjuntos. Si el scaler se hubiera ajustado también sobre el test, el modelo habría visto información del futuro durante el entrenamiento, sobreestimando su desempeño real.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E5A"/>
          </a:solidFill>
          <a:ln w="12700">
            <a:solidFill>
              <a:srgbClr val="1A2E5A"/>
            </a:solidFill>
            <a:prstDash val="solid"/>
          </a:ln>
        </p:spPr>
        <p:txBody>
          <a:bodyPr/>
          <a:lstStyle/>
          <a:p>
            <a:endParaRPr lang="es-CO"/>
          </a:p>
        </p:txBody>
      </p:sp>
      <p:sp>
        <p:nvSpPr>
          <p:cNvPr id="3" name="Shape 1"/>
          <p:cNvSpPr/>
          <p:nvPr/>
        </p:nvSpPr>
        <p:spPr>
          <a:xfrm>
            <a:off x="0" y="0"/>
            <a:ext cx="365760" cy="713232"/>
          </a:xfrm>
          <a:prstGeom prst="rect">
            <a:avLst/>
          </a:prstGeom>
          <a:solidFill>
            <a:srgbClr val="E8A020"/>
          </a:solidFill>
          <a:ln w="12700">
            <a:solidFill>
              <a:srgbClr val="E8A020"/>
            </a:solidFill>
            <a:prstDash val="solid"/>
          </a:ln>
        </p:spPr>
        <p:txBody>
          <a:bodyPr/>
          <a:lstStyle/>
          <a:p>
            <a:endParaRPr lang="es-CO"/>
          </a:p>
        </p:txBody>
      </p:sp>
      <p:sp>
        <p:nvSpPr>
          <p:cNvPr id="4" name="Text 2"/>
          <p:cNvSpPr/>
          <p:nvPr/>
        </p:nvSpPr>
        <p:spPr>
          <a:xfrm>
            <a:off x="502920" y="0"/>
            <a:ext cx="841248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6. GridSearchCV — Búsqueda de Hiperparámetros</a:t>
            </a:r>
            <a:endParaRPr lang="en-US" sz="2000" dirty="0"/>
          </a:p>
        </p:txBody>
      </p:sp>
      <p:sp>
        <p:nvSpPr>
          <p:cNvPr id="5" name="Text 3"/>
          <p:cNvSpPr/>
          <p:nvPr/>
        </p:nvSpPr>
        <p:spPr>
          <a:xfrm>
            <a:off x="365760" y="841248"/>
            <a:ext cx="8412480" cy="274320"/>
          </a:xfrm>
          <a:prstGeom prst="rect">
            <a:avLst/>
          </a:prstGeom>
          <a:noFill/>
          <a:ln/>
        </p:spPr>
        <p:txBody>
          <a:bodyPr wrap="square" rtlCol="0" anchor="ctr"/>
          <a:lstStyle/>
          <a:p>
            <a:pPr marL="0" indent="0">
              <a:buNone/>
            </a:pPr>
            <a:r>
              <a:rPr lang="en-US" sz="1300" b="1" dirty="0">
                <a:solidFill>
                  <a:srgbClr val="0D6E8A"/>
                </a:solidFill>
                <a:latin typeface="Calibri" pitchFamily="34" charset="0"/>
                <a:ea typeface="Calibri" pitchFamily="34" charset="-122"/>
                <a:cs typeface="Calibri" pitchFamily="34" charset="-120"/>
              </a:rPr>
              <a:t>¿Qué se hizo?</a:t>
            </a:r>
            <a:endParaRPr lang="en-US" sz="1300" dirty="0"/>
          </a:p>
        </p:txBody>
      </p:sp>
      <p:sp>
        <p:nvSpPr>
          <p:cNvPr id="6" name="Text 4"/>
          <p:cNvSpPr/>
          <p:nvPr/>
        </p:nvSpPr>
        <p:spPr>
          <a:xfrm>
            <a:off x="365760" y="1115568"/>
            <a:ext cx="8412480" cy="77724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Se tomó una muestra estratificada del 20% del train (548.399 obs.) conservando la proporción del target. La validación cruzada usó 3 folds estratificados (StratifiedKFold) y la métrica fue ROC-AUC.</a:t>
            </a:r>
            <a:endParaRPr lang="en-US" sz="1100" dirty="0"/>
          </a:p>
          <a:p>
            <a:pPr marL="0" indent="0">
              <a:buNone/>
            </a:pPr>
            <a:r>
              <a:rPr lang="en-US" sz="1100" dirty="0">
                <a:solidFill>
                  <a:srgbClr val="4A5568"/>
                </a:solidFill>
                <a:latin typeface="Calibri" pitchFamily="34" charset="0"/>
                <a:ea typeface="Calibri" pitchFamily="34" charset="-122"/>
                <a:cs typeface="Calibri" pitchFamily="34" charset="-120"/>
              </a:rPr>
              <a:t>⚠ Dato crítico: la muestra tenía solo el 2.53% de positivos (migrantes), confirmando el severo desbalanceo. Esto justifica class_weight='balanced' en todos los modelos y scale_pos_weight en XGBoost.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965960"/>
          <a:ext cx="8412480" cy="1691640"/>
        </p:xfrm>
        <a:graphic>
          <a:graphicData uri="http://schemas.openxmlformats.org/drawingml/2006/table">
            <a:tbl>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33832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Modelo</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1A2E5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ROC-AUC CV</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1A2E5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Mejores Hiperparámetros</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1A2E5A"/>
                    </a:solidFill>
                  </a:tcPr>
                </a:tc>
                <a:extLst>
                  <a:ext uri="{0D108BD9-81ED-4DB2-BD59-A6C34878D82A}">
                    <a16:rowId xmlns:a16="http://schemas.microsoft.com/office/drawing/2014/main" val="10000"/>
                  </a:ext>
                </a:extLst>
              </a:tr>
              <a:tr h="338328">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XGBoost 🏆</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0.7640</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lr=0.1, max_depth=4, min_child_weight=10, n_estimators=200</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0.7439</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max_depth=15, min_samples_leaf=50, n_estimators=200</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Árbol de Decisión</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0.7304</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max_depth=10, min_samples_leaf=50</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Regresión Logística</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0.6950</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C=1</a:t>
                      </a:r>
                      <a:endParaRPr lang="en-US" sz="11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274320" y="3840480"/>
            <a:ext cx="8595360" cy="1024128"/>
          </a:xfrm>
          <a:prstGeom prst="rect">
            <a:avLst/>
          </a:prstGeom>
          <a:solidFill>
            <a:srgbClr val="EAF3FB"/>
          </a:solidFill>
          <a:ln w="12700">
            <a:solidFill>
              <a:srgbClr val="0D6E8A"/>
            </a:solidFill>
            <a:prstDash val="solid"/>
          </a:ln>
        </p:spPr>
        <p:txBody>
          <a:bodyPr/>
          <a:lstStyle/>
          <a:p>
            <a:endParaRPr lang="es-CO"/>
          </a:p>
        </p:txBody>
      </p:sp>
      <p:sp>
        <p:nvSpPr>
          <p:cNvPr id="9" name="Text 6"/>
          <p:cNvSpPr/>
          <p:nvPr/>
        </p:nvSpPr>
        <p:spPr>
          <a:xfrm>
            <a:off x="457200" y="3886200"/>
            <a:ext cx="3657600" cy="274320"/>
          </a:xfrm>
          <a:prstGeom prst="rect">
            <a:avLst/>
          </a:prstGeom>
          <a:noFill/>
          <a:ln/>
        </p:spPr>
        <p:txBody>
          <a:bodyPr wrap="square" rtlCol="0" anchor="ctr"/>
          <a:lstStyle/>
          <a:p>
            <a:pPr marL="0" indent="0">
              <a:buNone/>
            </a:pPr>
            <a:r>
              <a:rPr lang="en-US" sz="1100" b="1" dirty="0">
                <a:solidFill>
                  <a:srgbClr val="0D6E8A"/>
                </a:solidFill>
                <a:latin typeface="Calibri" pitchFamily="34" charset="0"/>
                <a:ea typeface="Calibri" pitchFamily="34" charset="-122"/>
                <a:cs typeface="Calibri" pitchFamily="34" charset="-120"/>
              </a:rPr>
              <a:t>Lectura del resultado</a:t>
            </a:r>
            <a:endParaRPr lang="en-US" sz="1100" dirty="0"/>
          </a:p>
        </p:txBody>
      </p:sp>
      <p:sp>
        <p:nvSpPr>
          <p:cNvPr id="10" name="Text 7"/>
          <p:cNvSpPr/>
          <p:nvPr/>
        </p:nvSpPr>
        <p:spPr>
          <a:xfrm>
            <a:off x="457200" y="4160520"/>
            <a:ext cx="82296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El ROC-AUC mide qué tan bien el modelo separa las dos clases (migra vs. no migra). Un valor de 0.5 equivale a lanzar una moneda; 1.0 es predicción perfecta. Un ROC-AUC de 0.764 para XGBoost es razonable dado el desbalanceo extremo (solo 2.5% migrantes). La diferencia entre XGBoost (0.764) y Regresión Logística (0.695) demuestra que la relación entre variables y migración es no-lineal: los árboles y ensambles capturan mejor esas interacciones.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E5A"/>
          </a:solidFill>
          <a:ln w="12700">
            <a:solidFill>
              <a:srgbClr val="1A2E5A"/>
            </a:solidFill>
            <a:prstDash val="solid"/>
          </a:ln>
        </p:spPr>
        <p:txBody>
          <a:bodyPr/>
          <a:lstStyle/>
          <a:p>
            <a:endParaRPr lang="es-CO"/>
          </a:p>
        </p:txBody>
      </p:sp>
      <p:sp>
        <p:nvSpPr>
          <p:cNvPr id="3" name="Shape 1"/>
          <p:cNvSpPr/>
          <p:nvPr/>
        </p:nvSpPr>
        <p:spPr>
          <a:xfrm>
            <a:off x="0" y="0"/>
            <a:ext cx="365760" cy="713232"/>
          </a:xfrm>
          <a:prstGeom prst="rect">
            <a:avLst/>
          </a:prstGeom>
          <a:solidFill>
            <a:srgbClr val="E8A020"/>
          </a:solidFill>
          <a:ln w="12700">
            <a:solidFill>
              <a:srgbClr val="E8A020"/>
            </a:solidFill>
            <a:prstDash val="solid"/>
          </a:ln>
        </p:spPr>
        <p:txBody>
          <a:bodyPr/>
          <a:lstStyle/>
          <a:p>
            <a:endParaRPr lang="es-CO"/>
          </a:p>
        </p:txBody>
      </p:sp>
      <p:sp>
        <p:nvSpPr>
          <p:cNvPr id="4" name="Text 2"/>
          <p:cNvSpPr/>
          <p:nvPr/>
        </p:nvSpPr>
        <p:spPr>
          <a:xfrm>
            <a:off x="502920" y="0"/>
            <a:ext cx="8412480" cy="713232"/>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7. Selección del Modelo Campeón</a:t>
            </a:r>
            <a:endParaRPr lang="en-US" sz="2200" dirty="0"/>
          </a:p>
        </p:txBody>
      </p:sp>
      <p:sp>
        <p:nvSpPr>
          <p:cNvPr id="5" name="Text 3"/>
          <p:cNvSpPr/>
          <p:nvPr/>
        </p:nvSpPr>
        <p:spPr>
          <a:xfrm>
            <a:off x="365760" y="841248"/>
            <a:ext cx="8412480" cy="274320"/>
          </a:xfrm>
          <a:prstGeom prst="rect">
            <a:avLst/>
          </a:prstGeom>
          <a:noFill/>
          <a:ln/>
        </p:spPr>
        <p:txBody>
          <a:bodyPr wrap="square" rtlCol="0" anchor="ctr"/>
          <a:lstStyle/>
          <a:p>
            <a:pPr marL="0" indent="0">
              <a:buNone/>
            </a:pPr>
            <a:r>
              <a:rPr lang="en-US" sz="1300" b="1" dirty="0">
                <a:solidFill>
                  <a:srgbClr val="0D6E8A"/>
                </a:solidFill>
                <a:latin typeface="Calibri" pitchFamily="34" charset="0"/>
                <a:ea typeface="Calibri" pitchFamily="34" charset="-122"/>
                <a:cs typeface="Calibri" pitchFamily="34" charset="-120"/>
              </a:rPr>
              <a:t>¿Qué se hizo?</a:t>
            </a:r>
            <a:endParaRPr lang="en-US" sz="1300" dirty="0"/>
          </a:p>
        </p:txBody>
      </p:sp>
      <p:sp>
        <p:nvSpPr>
          <p:cNvPr id="6" name="Text 4"/>
          <p:cNvSpPr/>
          <p:nvPr/>
        </p:nvSpPr>
        <p:spPr>
          <a:xfrm>
            <a:off x="365760" y="1115568"/>
            <a:ext cx="8412480" cy="548640"/>
          </a:xfrm>
          <a:prstGeom prst="rect">
            <a:avLst/>
          </a:prstGeom>
          <a:noFill/>
          <a:ln/>
        </p:spPr>
        <p:txBody>
          <a:bodyPr wrap="square" rtlCol="0" anchor="ctr"/>
          <a:lstStyle/>
          <a:p>
            <a:pPr marL="0" indent="0">
              <a:buNone/>
            </a:pPr>
            <a:r>
              <a:rPr lang="en-US" sz="1150" dirty="0">
                <a:solidFill>
                  <a:srgbClr val="4A5568"/>
                </a:solidFill>
                <a:latin typeface="Calibri" pitchFamily="34" charset="0"/>
                <a:ea typeface="Calibri" pitchFamily="34" charset="-122"/>
                <a:cs typeface="Calibri" pitchFamily="34" charset="-120"/>
              </a:rPr>
              <a:t>Se compararon los ROC-AUC CV de los cuatro modelos. XGBoost ganó con 0.7640 y se re-entrenó sobre el train completo (2.741.995 observaciones) con los hiperparámetros óptimos encontrados. El scale_pos_weight para el re-entrenamiento se recalculó sobre el train completo.</a:t>
            </a:r>
            <a:endParaRPr lang="en-US" sz="1150" dirty="0"/>
          </a:p>
        </p:txBody>
      </p:sp>
      <p:sp>
        <p:nvSpPr>
          <p:cNvPr id="7" name="Shape 5"/>
          <p:cNvSpPr/>
          <p:nvPr/>
        </p:nvSpPr>
        <p:spPr>
          <a:xfrm>
            <a:off x="2011680" y="1810512"/>
            <a:ext cx="5120640" cy="1234440"/>
          </a:xfrm>
          <a:prstGeom prst="rect">
            <a:avLst/>
          </a:prstGeom>
          <a:solidFill>
            <a:srgbClr val="FFF8E8"/>
          </a:solidFill>
          <a:ln w="25400">
            <a:solidFill>
              <a:srgbClr val="E8A020"/>
            </a:solidFill>
            <a:prstDash val="solid"/>
          </a:ln>
        </p:spPr>
        <p:txBody>
          <a:bodyPr/>
          <a:lstStyle/>
          <a:p>
            <a:endParaRPr lang="es-CO"/>
          </a:p>
        </p:txBody>
      </p:sp>
      <p:sp>
        <p:nvSpPr>
          <p:cNvPr id="8" name="Text 6"/>
          <p:cNvSpPr/>
          <p:nvPr/>
        </p:nvSpPr>
        <p:spPr>
          <a:xfrm>
            <a:off x="2011680" y="1874520"/>
            <a:ext cx="5120640" cy="347472"/>
          </a:xfrm>
          <a:prstGeom prst="rect">
            <a:avLst/>
          </a:prstGeom>
          <a:noFill/>
          <a:ln/>
        </p:spPr>
        <p:txBody>
          <a:bodyPr wrap="square" rtlCol="0" anchor="ctr"/>
          <a:lstStyle/>
          <a:p>
            <a:pPr marL="0" indent="0" algn="ctr">
              <a:buNone/>
            </a:pPr>
            <a:r>
              <a:rPr lang="en-US" sz="1600" b="1" dirty="0">
                <a:solidFill>
                  <a:srgbClr val="E8A020"/>
                </a:solidFill>
                <a:latin typeface="Calibri" pitchFamily="34" charset="0"/>
                <a:ea typeface="Calibri" pitchFamily="34" charset="-122"/>
                <a:cs typeface="Calibri" pitchFamily="34" charset="-120"/>
              </a:rPr>
              <a:t> Modelo Campeón</a:t>
            </a:r>
            <a:endParaRPr lang="en-US" sz="1600" dirty="0"/>
          </a:p>
        </p:txBody>
      </p:sp>
      <p:sp>
        <p:nvSpPr>
          <p:cNvPr id="9" name="Text 7"/>
          <p:cNvSpPr/>
          <p:nvPr/>
        </p:nvSpPr>
        <p:spPr>
          <a:xfrm>
            <a:off x="2011680" y="2212848"/>
            <a:ext cx="5120640" cy="475488"/>
          </a:xfrm>
          <a:prstGeom prst="rect">
            <a:avLst/>
          </a:prstGeom>
          <a:noFill/>
          <a:ln/>
        </p:spPr>
        <p:txBody>
          <a:bodyPr wrap="square" rtlCol="0" anchor="ctr"/>
          <a:lstStyle/>
          <a:p>
            <a:pPr marL="0" indent="0" algn="ctr">
              <a:buNone/>
            </a:pPr>
            <a:r>
              <a:rPr lang="en-US" sz="2800" b="1" dirty="0">
                <a:solidFill>
                  <a:srgbClr val="1A2E5A"/>
                </a:solidFill>
                <a:latin typeface="Calibri" pitchFamily="34" charset="0"/>
                <a:ea typeface="Calibri" pitchFamily="34" charset="-122"/>
                <a:cs typeface="Calibri" pitchFamily="34" charset="-120"/>
              </a:rPr>
              <a:t>XGBoost</a:t>
            </a:r>
            <a:endParaRPr lang="en-US" sz="2800" dirty="0"/>
          </a:p>
        </p:txBody>
      </p:sp>
      <p:sp>
        <p:nvSpPr>
          <p:cNvPr id="10" name="Text 8"/>
          <p:cNvSpPr/>
          <p:nvPr/>
        </p:nvSpPr>
        <p:spPr>
          <a:xfrm>
            <a:off x="2011680" y="2679192"/>
            <a:ext cx="5120640" cy="274320"/>
          </a:xfrm>
          <a:prstGeom prst="rect">
            <a:avLst/>
          </a:prstGeom>
          <a:noFill/>
          <a:ln/>
        </p:spPr>
        <p:txBody>
          <a:bodyPr wrap="square" rtlCol="0" anchor="ctr"/>
          <a:lstStyle/>
          <a:p>
            <a:pPr marL="0" indent="0" algn="ctr">
              <a:buNone/>
            </a:pPr>
            <a:r>
              <a:rPr lang="en-US" sz="1200" dirty="0">
                <a:solidFill>
                  <a:srgbClr val="718096"/>
                </a:solidFill>
                <a:latin typeface="Calibri" pitchFamily="34" charset="0"/>
                <a:ea typeface="Calibri" pitchFamily="34" charset="-122"/>
                <a:cs typeface="Calibri" pitchFamily="34" charset="-120"/>
              </a:rPr>
              <a:t>ROC-AUC CV = 0.7640</a:t>
            </a:r>
            <a:endParaRPr lang="en-US" sz="1200" dirty="0"/>
          </a:p>
        </p:txBody>
      </p:sp>
      <p:graphicFrame>
        <p:nvGraphicFramePr>
          <p:cNvPr id="11" name="Chart 0"/>
          <p:cNvGraphicFramePr/>
          <p:nvPr>
            <p:extLst>
              <p:ext uri="{D42A27DB-BD31-4B8C-83A1-F6EECF244321}">
                <p14:modId xmlns:p14="http://schemas.microsoft.com/office/powerpoint/2010/main" val="1333863215"/>
              </p:ext>
            </p:extLst>
          </p:nvPr>
        </p:nvGraphicFramePr>
        <p:xfrm>
          <a:off x="274320" y="3236976"/>
          <a:ext cx="859536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p:nvPr/>
        </p:nvSpPr>
        <p:spPr>
          <a:xfrm>
            <a:off x="274320" y="4892040"/>
            <a:ext cx="8595360" cy="256032"/>
          </a:xfrm>
          <a:prstGeom prst="rect">
            <a:avLst/>
          </a:prstGeom>
          <a:noFill/>
          <a:ln/>
        </p:spPr>
        <p:txBody>
          <a:bodyPr wrap="square" rtlCol="0" anchor="ctr"/>
          <a:lstStyle/>
          <a:p>
            <a:pPr marL="0" indent="0">
              <a:buNone/>
            </a:pP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E5A"/>
          </a:solidFill>
          <a:ln w="12700">
            <a:solidFill>
              <a:srgbClr val="1A2E5A"/>
            </a:solidFill>
            <a:prstDash val="solid"/>
          </a:ln>
        </p:spPr>
        <p:txBody>
          <a:bodyPr/>
          <a:lstStyle/>
          <a:p>
            <a:endParaRPr lang="es-CO"/>
          </a:p>
        </p:txBody>
      </p:sp>
      <p:sp>
        <p:nvSpPr>
          <p:cNvPr id="3" name="Shape 1"/>
          <p:cNvSpPr/>
          <p:nvPr/>
        </p:nvSpPr>
        <p:spPr>
          <a:xfrm>
            <a:off x="0" y="0"/>
            <a:ext cx="365760" cy="713232"/>
          </a:xfrm>
          <a:prstGeom prst="rect">
            <a:avLst/>
          </a:prstGeom>
          <a:solidFill>
            <a:srgbClr val="E8A020"/>
          </a:solidFill>
          <a:ln w="12700">
            <a:solidFill>
              <a:srgbClr val="E8A020"/>
            </a:solidFill>
            <a:prstDash val="solid"/>
          </a:ln>
        </p:spPr>
        <p:txBody>
          <a:bodyPr/>
          <a:lstStyle/>
          <a:p>
            <a:endParaRPr lang="es-CO"/>
          </a:p>
        </p:txBody>
      </p:sp>
      <p:sp>
        <p:nvSpPr>
          <p:cNvPr id="4" name="Text 2"/>
          <p:cNvSpPr/>
          <p:nvPr/>
        </p:nvSpPr>
        <p:spPr>
          <a:xfrm>
            <a:off x="502920" y="0"/>
            <a:ext cx="8412480" cy="713232"/>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8. Ajuste de Umbral — Maximizar Recall con Precision ≥ 10%</a:t>
            </a:r>
            <a:endParaRPr lang="en-US" sz="1800" dirty="0"/>
          </a:p>
        </p:txBody>
      </p:sp>
      <p:sp>
        <p:nvSpPr>
          <p:cNvPr id="5" name="Text 3"/>
          <p:cNvSpPr/>
          <p:nvPr/>
        </p:nvSpPr>
        <p:spPr>
          <a:xfrm>
            <a:off x="365760" y="733648"/>
            <a:ext cx="8412480" cy="274320"/>
          </a:xfrm>
          <a:prstGeom prst="rect">
            <a:avLst/>
          </a:prstGeom>
          <a:noFill/>
          <a:ln/>
        </p:spPr>
        <p:txBody>
          <a:bodyPr wrap="square" rtlCol="0" anchor="ctr"/>
          <a:lstStyle/>
          <a:p>
            <a:pPr marL="0" indent="0">
              <a:buNone/>
            </a:pPr>
            <a:r>
              <a:rPr lang="en-US" sz="1300" b="1" dirty="0">
                <a:solidFill>
                  <a:srgbClr val="0D6E8A"/>
                </a:solidFill>
                <a:latin typeface="Calibri" pitchFamily="34" charset="0"/>
                <a:ea typeface="Calibri" pitchFamily="34" charset="-122"/>
                <a:cs typeface="Calibri" pitchFamily="34" charset="-120"/>
              </a:rPr>
              <a:t>¿Qué se hizo?</a:t>
            </a:r>
            <a:endParaRPr lang="en-US" sz="1300" dirty="0"/>
          </a:p>
        </p:txBody>
      </p:sp>
      <p:sp>
        <p:nvSpPr>
          <p:cNvPr id="6" name="Text 4"/>
          <p:cNvSpPr/>
          <p:nvPr/>
        </p:nvSpPr>
        <p:spPr>
          <a:xfrm>
            <a:off x="365760" y="1078992"/>
            <a:ext cx="4114800" cy="1051560"/>
          </a:xfrm>
          <a:prstGeom prst="rect">
            <a:avLst/>
          </a:prstGeom>
          <a:noFill/>
          <a:ln/>
        </p:spPr>
        <p:txBody>
          <a:bodyPr wrap="square" rtlCol="0" anchor="ctr"/>
          <a:lstStyle/>
          <a:p>
            <a:pPr marL="0" indent="0">
              <a:buNone/>
            </a:pPr>
            <a:r>
              <a:rPr lang="en-US" sz="1080" dirty="0">
                <a:solidFill>
                  <a:srgbClr val="4A5568"/>
                </a:solidFill>
                <a:latin typeface="Calibri" pitchFamily="34" charset="0"/>
                <a:ea typeface="Calibri" pitchFamily="34" charset="-122"/>
                <a:cs typeface="Calibri" pitchFamily="34" charset="-120"/>
              </a:rPr>
              <a:t>En problemas de clase muy desbalanceada, el umbral por defecto de 0.5 es casi siempre inadecuado. Se calcularon probabilidades con validación cruzada sobre el train (nunca el test) y se buscó el umbral que maximiza el Recall sujeto a que la </a:t>
            </a:r>
            <a:r>
              <a:rPr lang="en-US" sz="1080" dirty="0" err="1">
                <a:solidFill>
                  <a:srgbClr val="4A5568"/>
                </a:solidFill>
                <a:latin typeface="Calibri" pitchFamily="34" charset="0"/>
                <a:ea typeface="Calibri" pitchFamily="34" charset="-122"/>
                <a:cs typeface="Calibri" pitchFamily="34" charset="-120"/>
              </a:rPr>
              <a:t>precisión</a:t>
            </a:r>
            <a:r>
              <a:rPr lang="en-US" sz="1080" dirty="0">
                <a:solidFill>
                  <a:srgbClr val="4A5568"/>
                </a:solidFill>
                <a:latin typeface="Calibri" pitchFamily="34" charset="0"/>
                <a:ea typeface="Calibri" pitchFamily="34" charset="-122"/>
                <a:cs typeface="Calibri" pitchFamily="34" charset="-120"/>
              </a:rPr>
              <a:t> sea al menos 10%.</a:t>
            </a:r>
            <a:endParaRPr lang="en-US" sz="1080" dirty="0"/>
          </a:p>
          <a:p>
            <a:pPr marL="0" indent="0">
              <a:buNone/>
            </a:pPr>
            <a:r>
              <a:rPr lang="en-US" sz="1080" dirty="0" err="1">
                <a:solidFill>
                  <a:srgbClr val="4A5568"/>
                </a:solidFill>
                <a:latin typeface="Calibri" pitchFamily="34" charset="0"/>
                <a:ea typeface="Calibri" pitchFamily="34" charset="-122"/>
                <a:cs typeface="Calibri" pitchFamily="34" charset="-120"/>
              </a:rPr>
              <a:t>restricción</a:t>
            </a:r>
            <a:r>
              <a:rPr lang="en-US" sz="1080" dirty="0">
                <a:solidFill>
                  <a:srgbClr val="4A5568"/>
                </a:solidFill>
                <a:latin typeface="Calibri" pitchFamily="34" charset="0"/>
                <a:ea typeface="Calibri" pitchFamily="34" charset="-122"/>
                <a:cs typeface="Calibri" pitchFamily="34" charset="-120"/>
              </a:rPr>
              <a:t> </a:t>
            </a:r>
            <a:r>
              <a:rPr lang="en-US" sz="1080" dirty="0" err="1">
                <a:solidFill>
                  <a:srgbClr val="4A5568"/>
                </a:solidFill>
                <a:latin typeface="Calibri" pitchFamily="34" charset="0"/>
                <a:ea typeface="Calibri" pitchFamily="34" charset="-122"/>
                <a:cs typeface="Calibri" pitchFamily="34" charset="-120"/>
              </a:rPr>
              <a:t>precisión</a:t>
            </a:r>
            <a:r>
              <a:rPr lang="en-US" sz="1080" dirty="0">
                <a:solidFill>
                  <a:srgbClr val="4A5568"/>
                </a:solidFill>
                <a:latin typeface="Calibri" pitchFamily="34" charset="0"/>
                <a:ea typeface="Calibri" pitchFamily="34" charset="-122"/>
                <a:cs typeface="Calibri" pitchFamily="34" charset="-120"/>
              </a:rPr>
              <a:t> ≥ 10%: de cada 10 personas clasificadas como migrantes, al menos 1 lo sea realmente. Dado que la tasa base es 2.53%, </a:t>
            </a:r>
            <a:r>
              <a:rPr lang="en-US" sz="1080" dirty="0" err="1">
                <a:solidFill>
                  <a:srgbClr val="4A5568"/>
                </a:solidFill>
                <a:latin typeface="Calibri" pitchFamily="34" charset="0"/>
                <a:ea typeface="Calibri" pitchFamily="34" charset="-122"/>
                <a:cs typeface="Calibri" pitchFamily="34" charset="-120"/>
              </a:rPr>
              <a:t>una</a:t>
            </a:r>
            <a:r>
              <a:rPr lang="en-US" sz="1080" dirty="0">
                <a:solidFill>
                  <a:srgbClr val="4A5568"/>
                </a:solidFill>
                <a:latin typeface="Calibri" pitchFamily="34" charset="0"/>
                <a:ea typeface="Calibri" pitchFamily="34" charset="-122"/>
                <a:cs typeface="Calibri" pitchFamily="34" charset="-120"/>
              </a:rPr>
              <a:t> </a:t>
            </a:r>
            <a:r>
              <a:rPr lang="en-US" sz="1080" dirty="0" err="1">
                <a:solidFill>
                  <a:srgbClr val="4A5568"/>
                </a:solidFill>
                <a:latin typeface="Calibri" pitchFamily="34" charset="0"/>
                <a:ea typeface="Calibri" pitchFamily="34" charset="-122"/>
                <a:cs typeface="Calibri" pitchFamily="34" charset="-120"/>
              </a:rPr>
              <a:t>precisión</a:t>
            </a:r>
            <a:r>
              <a:rPr lang="en-US" sz="1080" dirty="0">
                <a:solidFill>
                  <a:srgbClr val="4A5568"/>
                </a:solidFill>
                <a:latin typeface="Calibri" pitchFamily="34" charset="0"/>
                <a:ea typeface="Calibri" pitchFamily="34" charset="-122"/>
                <a:cs typeface="Calibri" pitchFamily="34" charset="-120"/>
              </a:rPr>
              <a:t> de 10% es 4× mejor que al azar.</a:t>
            </a:r>
            <a:endParaRPr lang="en-US" sz="1080" dirty="0"/>
          </a:p>
        </p:txBody>
      </p:sp>
      <p:sp>
        <p:nvSpPr>
          <p:cNvPr id="7" name="Shape 5"/>
          <p:cNvSpPr/>
          <p:nvPr/>
        </p:nvSpPr>
        <p:spPr>
          <a:xfrm>
            <a:off x="4709160" y="868680"/>
            <a:ext cx="1371600" cy="1188720"/>
          </a:xfrm>
          <a:prstGeom prst="rect">
            <a:avLst/>
          </a:prstGeom>
          <a:solidFill>
            <a:srgbClr val="FFFFFF"/>
          </a:solidFill>
          <a:ln w="19050">
            <a:solidFill>
              <a:srgbClr val="0D6E8A"/>
            </a:solidFill>
            <a:prstDash val="solid"/>
          </a:ln>
        </p:spPr>
        <p:txBody>
          <a:bodyPr/>
          <a:lstStyle/>
          <a:p>
            <a:endParaRPr lang="es-CO"/>
          </a:p>
        </p:txBody>
      </p:sp>
      <p:sp>
        <p:nvSpPr>
          <p:cNvPr id="8" name="Text 6"/>
          <p:cNvSpPr/>
          <p:nvPr/>
        </p:nvSpPr>
        <p:spPr>
          <a:xfrm>
            <a:off x="4709160" y="987552"/>
            <a:ext cx="1371600" cy="502920"/>
          </a:xfrm>
          <a:prstGeom prst="rect">
            <a:avLst/>
          </a:prstGeom>
          <a:noFill/>
          <a:ln/>
        </p:spPr>
        <p:txBody>
          <a:bodyPr wrap="square" rtlCol="0" anchor="ctr"/>
          <a:lstStyle/>
          <a:p>
            <a:pPr marL="0" indent="0" algn="ctr">
              <a:buNone/>
            </a:pPr>
            <a:r>
              <a:rPr lang="en-US" sz="2000" b="1" dirty="0">
                <a:solidFill>
                  <a:srgbClr val="0D6E8A"/>
                </a:solidFill>
                <a:latin typeface="Calibri" pitchFamily="34" charset="0"/>
                <a:ea typeface="Calibri" pitchFamily="34" charset="-122"/>
                <a:cs typeface="Calibri" pitchFamily="34" charset="-120"/>
              </a:rPr>
              <a:t>0.6566</a:t>
            </a:r>
            <a:endParaRPr lang="en-US" sz="2000" dirty="0"/>
          </a:p>
        </p:txBody>
      </p:sp>
      <p:sp>
        <p:nvSpPr>
          <p:cNvPr id="9" name="Text 7"/>
          <p:cNvSpPr/>
          <p:nvPr/>
        </p:nvSpPr>
        <p:spPr>
          <a:xfrm>
            <a:off x="4709160" y="1481328"/>
            <a:ext cx="1371600" cy="457200"/>
          </a:xfrm>
          <a:prstGeom prst="rect">
            <a:avLst/>
          </a:prstGeom>
          <a:noFill/>
          <a:ln/>
        </p:spPr>
        <p:txBody>
          <a:bodyPr wrap="square" rtlCol="0" anchor="ctr"/>
          <a:lstStyle/>
          <a:p>
            <a:pPr marL="0" indent="0" algn="ctr">
              <a:buNone/>
            </a:pPr>
            <a:r>
              <a:rPr lang="en-US" sz="900" dirty="0">
                <a:solidFill>
                  <a:srgbClr val="718096"/>
                </a:solidFill>
                <a:latin typeface="Calibri" pitchFamily="34" charset="0"/>
                <a:ea typeface="Calibri" pitchFamily="34" charset="-122"/>
                <a:cs typeface="Calibri" pitchFamily="34" charset="-120"/>
              </a:rPr>
              <a:t>Umbral Óptimo</a:t>
            </a:r>
            <a:endParaRPr lang="en-US" sz="900" dirty="0"/>
          </a:p>
        </p:txBody>
      </p:sp>
      <p:sp>
        <p:nvSpPr>
          <p:cNvPr id="10" name="Shape 8"/>
          <p:cNvSpPr/>
          <p:nvPr/>
        </p:nvSpPr>
        <p:spPr>
          <a:xfrm>
            <a:off x="6190488" y="868680"/>
            <a:ext cx="1371600" cy="1188720"/>
          </a:xfrm>
          <a:prstGeom prst="rect">
            <a:avLst/>
          </a:prstGeom>
          <a:solidFill>
            <a:srgbClr val="FFFFFF"/>
          </a:solidFill>
          <a:ln w="19050">
            <a:solidFill>
              <a:srgbClr val="1A2E5A"/>
            </a:solidFill>
            <a:prstDash val="solid"/>
          </a:ln>
        </p:spPr>
        <p:txBody>
          <a:bodyPr/>
          <a:lstStyle/>
          <a:p>
            <a:endParaRPr lang="es-CO"/>
          </a:p>
        </p:txBody>
      </p:sp>
      <p:sp>
        <p:nvSpPr>
          <p:cNvPr id="11" name="Text 9"/>
          <p:cNvSpPr/>
          <p:nvPr/>
        </p:nvSpPr>
        <p:spPr>
          <a:xfrm>
            <a:off x="6190488" y="987552"/>
            <a:ext cx="1371600" cy="502920"/>
          </a:xfrm>
          <a:prstGeom prst="rect">
            <a:avLst/>
          </a:prstGeom>
          <a:noFill/>
          <a:ln/>
        </p:spPr>
        <p:txBody>
          <a:bodyPr wrap="square" rtlCol="0" anchor="ctr"/>
          <a:lstStyle/>
          <a:p>
            <a:pPr marL="0" indent="0" algn="ctr">
              <a:buNone/>
            </a:pPr>
            <a:r>
              <a:rPr lang="en-US" sz="2000" b="1" dirty="0">
                <a:solidFill>
                  <a:srgbClr val="1A2E5A"/>
                </a:solidFill>
                <a:latin typeface="Calibri" pitchFamily="34" charset="0"/>
                <a:ea typeface="Calibri" pitchFamily="34" charset="-122"/>
                <a:cs typeface="Calibri" pitchFamily="34" charset="-120"/>
              </a:rPr>
              <a:t>39.3%</a:t>
            </a:r>
            <a:endParaRPr lang="en-US" sz="2000" dirty="0"/>
          </a:p>
        </p:txBody>
      </p:sp>
      <p:sp>
        <p:nvSpPr>
          <p:cNvPr id="12" name="Text 10"/>
          <p:cNvSpPr/>
          <p:nvPr/>
        </p:nvSpPr>
        <p:spPr>
          <a:xfrm>
            <a:off x="6190488" y="1481328"/>
            <a:ext cx="1371600" cy="457200"/>
          </a:xfrm>
          <a:prstGeom prst="rect">
            <a:avLst/>
          </a:prstGeom>
          <a:noFill/>
          <a:ln/>
        </p:spPr>
        <p:txBody>
          <a:bodyPr wrap="square" rtlCol="0" anchor="ctr"/>
          <a:lstStyle/>
          <a:p>
            <a:pPr marL="0" indent="0" algn="ctr">
              <a:buNone/>
            </a:pPr>
            <a:r>
              <a:rPr lang="en-US" sz="900" dirty="0">
                <a:solidFill>
                  <a:srgbClr val="718096"/>
                </a:solidFill>
                <a:latin typeface="Calibri" pitchFamily="34" charset="0"/>
                <a:ea typeface="Calibri" pitchFamily="34" charset="-122"/>
                <a:cs typeface="Calibri" pitchFamily="34" charset="-120"/>
              </a:rPr>
              <a:t>Recall esperado (CV)</a:t>
            </a:r>
            <a:endParaRPr lang="en-US" sz="900" dirty="0"/>
          </a:p>
        </p:txBody>
      </p:sp>
      <p:sp>
        <p:nvSpPr>
          <p:cNvPr id="13" name="Shape 11"/>
          <p:cNvSpPr/>
          <p:nvPr/>
        </p:nvSpPr>
        <p:spPr>
          <a:xfrm>
            <a:off x="7671816" y="868680"/>
            <a:ext cx="1371600" cy="1188720"/>
          </a:xfrm>
          <a:prstGeom prst="rect">
            <a:avLst/>
          </a:prstGeom>
          <a:solidFill>
            <a:srgbClr val="FFFFFF"/>
          </a:solidFill>
          <a:ln w="19050">
            <a:solidFill>
              <a:srgbClr val="27AE60"/>
            </a:solidFill>
            <a:prstDash val="solid"/>
          </a:ln>
        </p:spPr>
        <p:txBody>
          <a:bodyPr/>
          <a:lstStyle/>
          <a:p>
            <a:endParaRPr lang="es-CO"/>
          </a:p>
        </p:txBody>
      </p:sp>
      <p:sp>
        <p:nvSpPr>
          <p:cNvPr id="14" name="Text 12"/>
          <p:cNvSpPr/>
          <p:nvPr/>
        </p:nvSpPr>
        <p:spPr>
          <a:xfrm>
            <a:off x="7671816" y="987552"/>
            <a:ext cx="1371600" cy="502920"/>
          </a:xfrm>
          <a:prstGeom prst="rect">
            <a:avLst/>
          </a:prstGeom>
          <a:noFill/>
          <a:ln/>
        </p:spPr>
        <p:txBody>
          <a:bodyPr wrap="square" rtlCol="0" anchor="ctr"/>
          <a:lstStyle/>
          <a:p>
            <a:pPr marL="0" indent="0" algn="ctr">
              <a:buNone/>
            </a:pPr>
            <a:r>
              <a:rPr lang="en-US" sz="2000" b="1" dirty="0">
                <a:solidFill>
                  <a:srgbClr val="27AE60"/>
                </a:solidFill>
                <a:latin typeface="Calibri" pitchFamily="34" charset="0"/>
                <a:ea typeface="Calibri" pitchFamily="34" charset="-122"/>
                <a:cs typeface="Calibri" pitchFamily="34" charset="-120"/>
              </a:rPr>
              <a:t>10.0%</a:t>
            </a:r>
            <a:endParaRPr lang="en-US" sz="2000" dirty="0"/>
          </a:p>
        </p:txBody>
      </p:sp>
      <p:sp>
        <p:nvSpPr>
          <p:cNvPr id="15" name="Text 13"/>
          <p:cNvSpPr/>
          <p:nvPr/>
        </p:nvSpPr>
        <p:spPr>
          <a:xfrm>
            <a:off x="7671816" y="1481328"/>
            <a:ext cx="1371600" cy="457200"/>
          </a:xfrm>
          <a:prstGeom prst="rect">
            <a:avLst/>
          </a:prstGeom>
          <a:noFill/>
          <a:ln/>
        </p:spPr>
        <p:txBody>
          <a:bodyPr wrap="square" rtlCol="0" anchor="ctr"/>
          <a:lstStyle/>
          <a:p>
            <a:pPr marL="0" indent="0" algn="ctr">
              <a:buNone/>
            </a:pPr>
            <a:r>
              <a:rPr lang="en-US" sz="900" dirty="0">
                <a:solidFill>
                  <a:srgbClr val="718096"/>
                </a:solidFill>
                <a:latin typeface="Calibri" pitchFamily="34" charset="0"/>
                <a:ea typeface="Calibri" pitchFamily="34" charset="-122"/>
                <a:cs typeface="Calibri" pitchFamily="34" charset="-120"/>
              </a:rPr>
              <a:t>Precision en umbral (CV)</a:t>
            </a:r>
            <a:endParaRPr lang="en-US" sz="900" dirty="0"/>
          </a:p>
        </p:txBody>
      </p:sp>
      <p:pic>
        <p:nvPicPr>
          <p:cNvPr id="16" name="Image 0" descr="preencoded.png"/>
          <p:cNvPicPr>
            <a:picLocks noChangeAspect="1"/>
          </p:cNvPicPr>
          <p:nvPr/>
        </p:nvPicPr>
        <p:blipFill>
          <a:blip r:embed="rId3"/>
          <a:stretch>
            <a:fillRect/>
          </a:stretch>
        </p:blipFill>
        <p:spPr>
          <a:xfrm>
            <a:off x="343593" y="2185000"/>
            <a:ext cx="5544589" cy="2889920"/>
          </a:xfrm>
          <a:prstGeom prst="rect">
            <a:avLst/>
          </a:prstGeom>
        </p:spPr>
      </p:pic>
      <p:sp>
        <p:nvSpPr>
          <p:cNvPr id="17" name="Text 14"/>
          <p:cNvSpPr/>
          <p:nvPr/>
        </p:nvSpPr>
        <p:spPr>
          <a:xfrm>
            <a:off x="0" y="4973920"/>
            <a:ext cx="5014791" cy="228600"/>
          </a:xfrm>
          <a:prstGeom prst="rect">
            <a:avLst/>
          </a:prstGeom>
          <a:noFill/>
          <a:ln/>
        </p:spPr>
        <p:txBody>
          <a:bodyPr wrap="square" rtlCol="0" anchor="ctr"/>
          <a:lstStyle/>
          <a:p>
            <a:pPr marL="0" indent="0" algn="ctr">
              <a:buNone/>
            </a:pPr>
            <a:r>
              <a:rPr lang="en-US" sz="600" i="1" dirty="0">
                <a:solidFill>
                  <a:srgbClr val="718096"/>
                </a:solidFill>
                <a:latin typeface="Calibri" pitchFamily="34" charset="0"/>
                <a:ea typeface="Calibri" pitchFamily="34" charset="-122"/>
                <a:cs typeface="Calibri" pitchFamily="34" charset="-120"/>
              </a:rPr>
              <a:t>Gráfica 1. Curva Precision-Recall (CV train). La línea roja marca el umbral óptimo (0.657); la línea verde marca la Precision mínima (10%).</a:t>
            </a:r>
            <a:endParaRPr lang="en-US" sz="600" dirty="0"/>
          </a:p>
        </p:txBody>
      </p:sp>
      <p:sp>
        <p:nvSpPr>
          <p:cNvPr id="18" name="Text 15"/>
          <p:cNvSpPr/>
          <p:nvPr/>
        </p:nvSpPr>
        <p:spPr>
          <a:xfrm>
            <a:off x="274320" y="4572000"/>
            <a:ext cx="8595360" cy="502920"/>
          </a:xfrm>
          <a:prstGeom prst="rect">
            <a:avLst/>
          </a:prstGeom>
          <a:noFill/>
          <a:ln/>
        </p:spPr>
        <p:txBody>
          <a:bodyPr wrap="square" rtlCol="0" anchor="ctr"/>
          <a:lstStyle/>
          <a:p>
            <a:pPr marL="0" indent="0">
              <a:buNone/>
            </a:pPr>
            <a:endParaRPr lang="en-US" sz="950" dirty="0"/>
          </a:p>
        </p:txBody>
      </p:sp>
      <p:sp>
        <p:nvSpPr>
          <p:cNvPr id="20" name="CuadroTexto 19">
            <a:extLst>
              <a:ext uri="{FF2B5EF4-FFF2-40B4-BE49-F238E27FC236}">
                <a16:creationId xmlns:a16="http://schemas.microsoft.com/office/drawing/2014/main" id="{FC6050DF-957D-129D-F2C7-AF4374139DF1}"/>
              </a:ext>
            </a:extLst>
          </p:cNvPr>
          <p:cNvSpPr txBox="1"/>
          <p:nvPr/>
        </p:nvSpPr>
        <p:spPr>
          <a:xfrm>
            <a:off x="5998326" y="2784230"/>
            <a:ext cx="2871354" cy="1569660"/>
          </a:xfrm>
          <a:prstGeom prst="rect">
            <a:avLst/>
          </a:prstGeom>
          <a:noFill/>
        </p:spPr>
        <p:txBody>
          <a:bodyPr wrap="square">
            <a:spAutoFit/>
          </a:bodyPr>
          <a:lstStyle/>
          <a:p>
            <a:pPr marL="0" indent="0">
              <a:buNone/>
            </a:pPr>
            <a:r>
              <a:rPr lang="en-US" sz="1200" i="1" dirty="0">
                <a:solidFill>
                  <a:srgbClr val="718096"/>
                </a:solidFill>
                <a:latin typeface="Calibri" pitchFamily="34" charset="0"/>
                <a:ea typeface="Calibri" pitchFamily="34" charset="-122"/>
                <a:cs typeface="Calibri" pitchFamily="34" charset="-120"/>
              </a:rPr>
              <a:t>Lectura: El </a:t>
            </a:r>
            <a:r>
              <a:rPr lang="en-US" sz="1200" i="1" dirty="0" err="1">
                <a:solidFill>
                  <a:srgbClr val="718096"/>
                </a:solidFill>
                <a:latin typeface="Calibri" pitchFamily="34" charset="0"/>
                <a:ea typeface="Calibri" pitchFamily="34" charset="-122"/>
                <a:cs typeface="Calibri" pitchFamily="34" charset="-120"/>
              </a:rPr>
              <a:t>eje</a:t>
            </a:r>
            <a:r>
              <a:rPr lang="en-US" sz="1200" i="1" dirty="0">
                <a:solidFill>
                  <a:srgbClr val="718096"/>
                </a:solidFill>
                <a:latin typeface="Calibri" pitchFamily="34" charset="0"/>
                <a:ea typeface="Calibri" pitchFamily="34" charset="-122"/>
                <a:cs typeface="Calibri" pitchFamily="34" charset="-120"/>
              </a:rPr>
              <a:t> X es </a:t>
            </a:r>
            <a:r>
              <a:rPr lang="en-US" sz="1200" i="1" dirty="0" err="1">
                <a:solidFill>
                  <a:srgbClr val="718096"/>
                </a:solidFill>
                <a:latin typeface="Calibri" pitchFamily="34" charset="0"/>
                <a:ea typeface="Calibri" pitchFamily="34" charset="-122"/>
                <a:cs typeface="Calibri" pitchFamily="34" charset="-120"/>
              </a:rPr>
              <a:t>el</a:t>
            </a:r>
            <a:r>
              <a:rPr lang="en-US" sz="1200" i="1" dirty="0">
                <a:solidFill>
                  <a:srgbClr val="718096"/>
                </a:solidFill>
                <a:latin typeface="Calibri" pitchFamily="34" charset="0"/>
                <a:ea typeface="Calibri" pitchFamily="34" charset="-122"/>
                <a:cs typeface="Calibri" pitchFamily="34" charset="-120"/>
              </a:rPr>
              <a:t> Recall (</a:t>
            </a:r>
            <a:r>
              <a:rPr lang="en-US" sz="1200" i="1" dirty="0" err="1">
                <a:solidFill>
                  <a:srgbClr val="718096"/>
                </a:solidFill>
                <a:latin typeface="Calibri" pitchFamily="34" charset="0"/>
                <a:ea typeface="Calibri" pitchFamily="34" charset="-122"/>
                <a:cs typeface="Calibri" pitchFamily="34" charset="-120"/>
              </a:rPr>
              <a:t>fracción</a:t>
            </a:r>
            <a:r>
              <a:rPr lang="en-US" sz="1200" i="1" dirty="0">
                <a:solidFill>
                  <a:srgbClr val="718096"/>
                </a:solidFill>
                <a:latin typeface="Calibri" pitchFamily="34" charset="0"/>
                <a:ea typeface="Calibri" pitchFamily="34" charset="-122"/>
                <a:cs typeface="Calibri" pitchFamily="34" charset="-120"/>
              </a:rPr>
              <a:t> de </a:t>
            </a:r>
            <a:r>
              <a:rPr lang="en-US" sz="1200" i="1" dirty="0" err="1">
                <a:solidFill>
                  <a:srgbClr val="718096"/>
                </a:solidFill>
                <a:latin typeface="Calibri" pitchFamily="34" charset="0"/>
                <a:ea typeface="Calibri" pitchFamily="34" charset="-122"/>
                <a:cs typeface="Calibri" pitchFamily="34" charset="-120"/>
              </a:rPr>
              <a:t>migrantes</a:t>
            </a:r>
            <a:r>
              <a:rPr lang="en-US" sz="1200" i="1" dirty="0">
                <a:solidFill>
                  <a:srgbClr val="718096"/>
                </a:solidFill>
                <a:latin typeface="Calibri" pitchFamily="34" charset="0"/>
                <a:ea typeface="Calibri" pitchFamily="34" charset="-122"/>
                <a:cs typeface="Calibri" pitchFamily="34" charset="-120"/>
              </a:rPr>
              <a:t> reales </a:t>
            </a:r>
            <a:r>
              <a:rPr lang="en-US" sz="1200" i="1" dirty="0" err="1">
                <a:solidFill>
                  <a:srgbClr val="718096"/>
                </a:solidFill>
                <a:latin typeface="Calibri" pitchFamily="34" charset="0"/>
                <a:ea typeface="Calibri" pitchFamily="34" charset="-122"/>
                <a:cs typeface="Calibri" pitchFamily="34" charset="-120"/>
              </a:rPr>
              <a:t>capturados</a:t>
            </a:r>
            <a:r>
              <a:rPr lang="en-US" sz="1200" i="1" dirty="0">
                <a:solidFill>
                  <a:srgbClr val="718096"/>
                </a:solidFill>
                <a:latin typeface="Calibri" pitchFamily="34" charset="0"/>
                <a:ea typeface="Calibri" pitchFamily="34" charset="-122"/>
                <a:cs typeface="Calibri" pitchFamily="34" charset="-120"/>
              </a:rPr>
              <a:t>) y </a:t>
            </a:r>
            <a:r>
              <a:rPr lang="en-US" sz="1200" i="1" dirty="0" err="1">
                <a:solidFill>
                  <a:srgbClr val="718096"/>
                </a:solidFill>
                <a:latin typeface="Calibri" pitchFamily="34" charset="0"/>
                <a:ea typeface="Calibri" pitchFamily="34" charset="-122"/>
                <a:cs typeface="Calibri" pitchFamily="34" charset="-120"/>
              </a:rPr>
              <a:t>el</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eje</a:t>
            </a:r>
            <a:r>
              <a:rPr lang="en-US" sz="1200" i="1" dirty="0">
                <a:solidFill>
                  <a:srgbClr val="718096"/>
                </a:solidFill>
                <a:latin typeface="Calibri" pitchFamily="34" charset="0"/>
                <a:ea typeface="Calibri" pitchFamily="34" charset="-122"/>
                <a:cs typeface="Calibri" pitchFamily="34" charset="-120"/>
              </a:rPr>
              <a:t> Y es la Precision. La curva </a:t>
            </a:r>
            <a:r>
              <a:rPr lang="en-US" sz="1200" i="1" dirty="0" err="1">
                <a:solidFill>
                  <a:srgbClr val="718096"/>
                </a:solidFill>
                <a:latin typeface="Calibri" pitchFamily="34" charset="0"/>
                <a:ea typeface="Calibri" pitchFamily="34" charset="-122"/>
                <a:cs typeface="Calibri" pitchFamily="34" charset="-120"/>
              </a:rPr>
              <a:t>muestra</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el</a:t>
            </a:r>
            <a:r>
              <a:rPr lang="en-US" sz="1200" i="1" dirty="0">
                <a:solidFill>
                  <a:srgbClr val="718096"/>
                </a:solidFill>
                <a:latin typeface="Calibri" pitchFamily="34" charset="0"/>
                <a:ea typeface="Calibri" pitchFamily="34" charset="-122"/>
                <a:cs typeface="Calibri" pitchFamily="34" charset="-120"/>
              </a:rPr>
              <a:t> trade-off: al </a:t>
            </a:r>
            <a:r>
              <a:rPr lang="en-US" sz="1200" i="1" dirty="0" err="1">
                <a:solidFill>
                  <a:srgbClr val="718096"/>
                </a:solidFill>
                <a:latin typeface="Calibri" pitchFamily="34" charset="0"/>
                <a:ea typeface="Calibri" pitchFamily="34" charset="-122"/>
                <a:cs typeface="Calibri" pitchFamily="34" charset="-120"/>
              </a:rPr>
              <a:t>bajar</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el</a:t>
            </a:r>
            <a:r>
              <a:rPr lang="en-US" sz="1200" i="1" dirty="0">
                <a:solidFill>
                  <a:srgbClr val="718096"/>
                </a:solidFill>
                <a:latin typeface="Calibri" pitchFamily="34" charset="0"/>
                <a:ea typeface="Calibri" pitchFamily="34" charset="-122"/>
                <a:cs typeface="Calibri" pitchFamily="34" charset="-120"/>
              </a:rPr>
              <a:t> umbral, </a:t>
            </a:r>
            <a:r>
              <a:rPr lang="en-US" sz="1200" i="1" dirty="0" err="1">
                <a:solidFill>
                  <a:srgbClr val="718096"/>
                </a:solidFill>
                <a:latin typeface="Calibri" pitchFamily="34" charset="0"/>
                <a:ea typeface="Calibri" pitchFamily="34" charset="-122"/>
                <a:cs typeface="Calibri" pitchFamily="34" charset="-120"/>
              </a:rPr>
              <a:t>el</a:t>
            </a:r>
            <a:r>
              <a:rPr lang="en-US" sz="1200" i="1" dirty="0">
                <a:solidFill>
                  <a:srgbClr val="718096"/>
                </a:solidFill>
                <a:latin typeface="Calibri" pitchFamily="34" charset="0"/>
                <a:ea typeface="Calibri" pitchFamily="34" charset="-122"/>
                <a:cs typeface="Calibri" pitchFamily="34" charset="-120"/>
              </a:rPr>
              <a:t> Recall </a:t>
            </a:r>
            <a:r>
              <a:rPr lang="en-US" sz="1200" i="1" dirty="0" err="1">
                <a:solidFill>
                  <a:srgbClr val="718096"/>
                </a:solidFill>
                <a:latin typeface="Calibri" pitchFamily="34" charset="0"/>
                <a:ea typeface="Calibri" pitchFamily="34" charset="-122"/>
                <a:cs typeface="Calibri" pitchFamily="34" charset="-120"/>
              </a:rPr>
              <a:t>sube</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pero</a:t>
            </a:r>
            <a:r>
              <a:rPr lang="en-US" sz="1200" i="1" dirty="0">
                <a:solidFill>
                  <a:srgbClr val="718096"/>
                </a:solidFill>
                <a:latin typeface="Calibri" pitchFamily="34" charset="0"/>
                <a:ea typeface="Calibri" pitchFamily="34" charset="-122"/>
                <a:cs typeface="Calibri" pitchFamily="34" charset="-120"/>
              </a:rPr>
              <a:t> la Precision </a:t>
            </a:r>
            <a:r>
              <a:rPr lang="en-US" sz="1200" i="1" dirty="0" err="1">
                <a:solidFill>
                  <a:srgbClr val="718096"/>
                </a:solidFill>
                <a:latin typeface="Calibri" pitchFamily="34" charset="0"/>
                <a:ea typeface="Calibri" pitchFamily="34" charset="-122"/>
                <a:cs typeface="Calibri" pitchFamily="34" charset="-120"/>
              </a:rPr>
              <a:t>cae</a:t>
            </a:r>
            <a:r>
              <a:rPr lang="en-US" sz="1200" i="1" dirty="0">
                <a:solidFill>
                  <a:srgbClr val="718096"/>
                </a:solidFill>
                <a:latin typeface="Calibri" pitchFamily="34" charset="0"/>
                <a:ea typeface="Calibri" pitchFamily="34" charset="-122"/>
                <a:cs typeface="Calibri" pitchFamily="34" charset="-120"/>
              </a:rPr>
              <a:t>. El umbral </a:t>
            </a:r>
            <a:r>
              <a:rPr lang="en-US" sz="1200" i="1" dirty="0" err="1">
                <a:solidFill>
                  <a:srgbClr val="718096"/>
                </a:solidFill>
                <a:latin typeface="Calibri" pitchFamily="34" charset="0"/>
                <a:ea typeface="Calibri" pitchFamily="34" charset="-122"/>
                <a:cs typeface="Calibri" pitchFamily="34" charset="-120"/>
              </a:rPr>
              <a:t>óptimo</a:t>
            </a:r>
            <a:r>
              <a:rPr lang="en-US" sz="1200" i="1" dirty="0">
                <a:solidFill>
                  <a:srgbClr val="718096"/>
                </a:solidFill>
                <a:latin typeface="Calibri" pitchFamily="34" charset="0"/>
                <a:ea typeface="Calibri" pitchFamily="34" charset="-122"/>
                <a:cs typeface="Calibri" pitchFamily="34" charset="-120"/>
              </a:rPr>
              <a:t> (0.657) </a:t>
            </a:r>
            <a:r>
              <a:rPr lang="en-US" sz="1200" i="1" dirty="0" err="1">
                <a:solidFill>
                  <a:srgbClr val="718096"/>
                </a:solidFill>
                <a:latin typeface="Calibri" pitchFamily="34" charset="0"/>
                <a:ea typeface="Calibri" pitchFamily="34" charset="-122"/>
                <a:cs typeface="Calibri" pitchFamily="34" charset="-120"/>
              </a:rPr>
              <a:t>captura</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el</a:t>
            </a:r>
            <a:r>
              <a:rPr lang="en-US" sz="1200" i="1" dirty="0">
                <a:solidFill>
                  <a:srgbClr val="718096"/>
                </a:solidFill>
                <a:latin typeface="Calibri" pitchFamily="34" charset="0"/>
                <a:ea typeface="Calibri" pitchFamily="34" charset="-122"/>
                <a:cs typeface="Calibri" pitchFamily="34" charset="-120"/>
              </a:rPr>
              <a:t> 39.3% de </a:t>
            </a:r>
            <a:r>
              <a:rPr lang="en-US" sz="1200" i="1" dirty="0" err="1">
                <a:solidFill>
                  <a:srgbClr val="718096"/>
                </a:solidFill>
                <a:latin typeface="Calibri" pitchFamily="34" charset="0"/>
                <a:ea typeface="Calibri" pitchFamily="34" charset="-122"/>
                <a:cs typeface="Calibri" pitchFamily="34" charset="-120"/>
              </a:rPr>
              <a:t>los</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migrantes</a:t>
            </a:r>
            <a:r>
              <a:rPr lang="en-US" sz="1200" i="1" dirty="0">
                <a:solidFill>
                  <a:srgbClr val="718096"/>
                </a:solidFill>
                <a:latin typeface="Calibri" pitchFamily="34" charset="0"/>
                <a:ea typeface="Calibri" pitchFamily="34" charset="-122"/>
                <a:cs typeface="Calibri" pitchFamily="34" charset="-120"/>
              </a:rPr>
              <a:t> reales </a:t>
            </a:r>
            <a:r>
              <a:rPr lang="en-US" sz="1200" i="1" dirty="0" err="1">
                <a:solidFill>
                  <a:srgbClr val="718096"/>
                </a:solidFill>
                <a:latin typeface="Calibri" pitchFamily="34" charset="0"/>
                <a:ea typeface="Calibri" pitchFamily="34" charset="-122"/>
                <a:cs typeface="Calibri" pitchFamily="34" charset="-120"/>
              </a:rPr>
              <a:t>manteniéndose</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por</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encima</a:t>
            </a:r>
            <a:r>
              <a:rPr lang="en-US" sz="1200" i="1" dirty="0">
                <a:solidFill>
                  <a:srgbClr val="718096"/>
                </a:solidFill>
                <a:latin typeface="Calibri" pitchFamily="34" charset="0"/>
                <a:ea typeface="Calibri" pitchFamily="34" charset="-122"/>
                <a:cs typeface="Calibri" pitchFamily="34" charset="-120"/>
              </a:rPr>
              <a:t> del 10% de </a:t>
            </a:r>
            <a:r>
              <a:rPr lang="en-US" sz="1200" i="1" dirty="0" err="1">
                <a:solidFill>
                  <a:srgbClr val="718096"/>
                </a:solidFill>
                <a:latin typeface="Calibri" pitchFamily="34" charset="0"/>
                <a:ea typeface="Calibri" pitchFamily="34" charset="-122"/>
                <a:cs typeface="Calibri" pitchFamily="34" charset="-120"/>
              </a:rPr>
              <a:t>precisión</a:t>
            </a:r>
            <a:r>
              <a:rPr lang="en-US" sz="1200" i="1" dirty="0">
                <a:solidFill>
                  <a:srgbClr val="718096"/>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E5A"/>
          </a:solidFill>
          <a:ln w="12700">
            <a:solidFill>
              <a:srgbClr val="1A2E5A"/>
            </a:solidFill>
            <a:prstDash val="solid"/>
          </a:ln>
        </p:spPr>
        <p:txBody>
          <a:bodyPr/>
          <a:lstStyle/>
          <a:p>
            <a:endParaRPr lang="es-CO"/>
          </a:p>
        </p:txBody>
      </p:sp>
      <p:sp>
        <p:nvSpPr>
          <p:cNvPr id="3" name="Shape 1"/>
          <p:cNvSpPr/>
          <p:nvPr/>
        </p:nvSpPr>
        <p:spPr>
          <a:xfrm>
            <a:off x="0" y="0"/>
            <a:ext cx="365760" cy="713232"/>
          </a:xfrm>
          <a:prstGeom prst="rect">
            <a:avLst/>
          </a:prstGeom>
          <a:solidFill>
            <a:srgbClr val="E8A020"/>
          </a:solidFill>
          <a:ln w="12700">
            <a:solidFill>
              <a:srgbClr val="E8A020"/>
            </a:solidFill>
            <a:prstDash val="solid"/>
          </a:ln>
        </p:spPr>
        <p:txBody>
          <a:bodyPr/>
          <a:lstStyle/>
          <a:p>
            <a:endParaRPr lang="es-CO"/>
          </a:p>
        </p:txBody>
      </p:sp>
      <p:sp>
        <p:nvSpPr>
          <p:cNvPr id="4" name="Text 2"/>
          <p:cNvSpPr/>
          <p:nvPr/>
        </p:nvSpPr>
        <p:spPr>
          <a:xfrm>
            <a:off x="502920" y="0"/>
            <a:ext cx="8412480" cy="713232"/>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9. Evaluación Final — Datos de Prueba</a:t>
            </a:r>
            <a:endParaRPr lang="en-US" sz="2200" dirty="0"/>
          </a:p>
        </p:txBody>
      </p:sp>
      <p:sp>
        <p:nvSpPr>
          <p:cNvPr id="5" name="Text 3"/>
          <p:cNvSpPr/>
          <p:nvPr/>
        </p:nvSpPr>
        <p:spPr>
          <a:xfrm>
            <a:off x="182880" y="947444"/>
            <a:ext cx="8412480" cy="256032"/>
          </a:xfrm>
          <a:prstGeom prst="rect">
            <a:avLst/>
          </a:prstGeom>
          <a:noFill/>
          <a:ln/>
        </p:spPr>
        <p:txBody>
          <a:bodyPr wrap="square" rtlCol="0" anchor="ctr"/>
          <a:lstStyle/>
          <a:p>
            <a:pPr marL="0" indent="0">
              <a:buNone/>
            </a:pPr>
            <a:r>
              <a:rPr lang="en-US" sz="1300" b="1" dirty="0">
                <a:solidFill>
                  <a:srgbClr val="0D6E8A"/>
                </a:solidFill>
                <a:latin typeface="Calibri" pitchFamily="34" charset="0"/>
                <a:ea typeface="Calibri" pitchFamily="34" charset="-122"/>
                <a:cs typeface="Calibri" pitchFamily="34" charset="-120"/>
              </a:rPr>
              <a:t>¿Qué se hizo?</a:t>
            </a:r>
            <a:endParaRPr lang="en-US" sz="1300" dirty="0"/>
          </a:p>
        </p:txBody>
      </p:sp>
      <p:sp>
        <p:nvSpPr>
          <p:cNvPr id="6" name="Text 4"/>
          <p:cNvSpPr/>
          <p:nvPr/>
        </p:nvSpPr>
        <p:spPr>
          <a:xfrm>
            <a:off x="182880" y="1391205"/>
            <a:ext cx="8412480" cy="36576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Esta es la primera y única vez que se usa el test durante todo el flujo. Se aplicaron las probabilidades del modelo campeón, se clasificó con el umbral 0.6566 y se calcularon todas las métricas oficiales del proyecto.</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2406394171"/>
              </p:ext>
            </p:extLst>
          </p:nvPr>
        </p:nvGraphicFramePr>
        <p:xfrm>
          <a:off x="274320" y="2028167"/>
          <a:ext cx="8595360" cy="2112264"/>
        </p:xfrm>
        <a:graphic>
          <a:graphicData uri="http://schemas.openxmlformats.org/drawingml/2006/table">
            <a:tbl>
              <a:tblPr/>
              <a:tblGrid>
                <a:gridCol w="1828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30175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Métrica</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1A2E5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Valor</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1A2E5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Interpretación</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1A2E5A"/>
                    </a:solidFill>
                  </a:tcPr>
                </a:tc>
                <a:extLst>
                  <a:ext uri="{0D108BD9-81ED-4DB2-BD59-A6C34878D82A}">
                    <a16:rowId xmlns:a16="http://schemas.microsoft.com/office/drawing/2014/main" val="10000"/>
                  </a:ext>
                </a:extLst>
              </a:tr>
              <a:tr h="30175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ROC-AUC</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0.7680</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Capacidad discriminativa global del modelo</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PR-AUC</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0.1110</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Desempeño en la clase positiva. Baseline = 0.025</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Recall ★</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0.3966</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39.7% de migrantes reales son detectados</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Precision</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0.1008</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 de cada 10 predichos como migrantes migra realmente</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F1-Score</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0.1607</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Media armónica entre Recall y Precision</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0.8953</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No informativo — engañoso en clases desbalanceadas</a:t>
                      </a:r>
                      <a:endParaRPr lang="en-US" sz="105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Shape 5"/>
          <p:cNvSpPr/>
          <p:nvPr/>
        </p:nvSpPr>
        <p:spPr>
          <a:xfrm>
            <a:off x="365760" y="4503143"/>
            <a:ext cx="8595360" cy="411480"/>
          </a:xfrm>
          <a:prstGeom prst="rect">
            <a:avLst/>
          </a:prstGeom>
          <a:solidFill>
            <a:srgbClr val="EAF3FB"/>
          </a:solidFill>
          <a:ln w="12700">
            <a:solidFill>
              <a:srgbClr val="0D6E8A"/>
            </a:solidFill>
            <a:prstDash val="solid"/>
          </a:ln>
        </p:spPr>
        <p:txBody>
          <a:bodyPr/>
          <a:lstStyle/>
          <a:p>
            <a:endParaRPr lang="es-CO"/>
          </a:p>
        </p:txBody>
      </p:sp>
      <p:sp>
        <p:nvSpPr>
          <p:cNvPr id="9" name="Text 6"/>
          <p:cNvSpPr/>
          <p:nvPr/>
        </p:nvSpPr>
        <p:spPr>
          <a:xfrm>
            <a:off x="457200" y="4526003"/>
            <a:ext cx="8321040" cy="365760"/>
          </a:xfrm>
          <a:prstGeom prst="rect">
            <a:avLst/>
          </a:prstGeom>
          <a:noFill/>
          <a:ln/>
        </p:spPr>
        <p:txBody>
          <a:bodyPr wrap="square" rtlCol="0" anchor="ctr"/>
          <a:lstStyle/>
          <a:p>
            <a:pPr marL="0" indent="0">
              <a:buNone/>
            </a:pPr>
            <a:r>
              <a:rPr lang="en-US" sz="950" i="1" dirty="0">
                <a:solidFill>
                  <a:srgbClr val="4A5568"/>
                </a:solidFill>
                <a:latin typeface="Calibri" pitchFamily="34" charset="0"/>
                <a:ea typeface="Calibri" pitchFamily="34" charset="-122"/>
                <a:cs typeface="Calibri" pitchFamily="34" charset="-120"/>
              </a:rPr>
              <a:t>Lectura: El modelo logra separar genuinamente migrantes de no-migrantes (ROC-AUC 0.768 vs. 0.5 del azar). El PR-AUC de 0.111 es 4.4× mejor que la baseline (0.025). El Recall de 39.7% es la métrica objetivo: el modelo detecta casi 4 de cada 10 migrantes reales con solo clasificar el 10% como falsos positivos.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a:extLst>
            <a:ext uri="{FF2B5EF4-FFF2-40B4-BE49-F238E27FC236}">
              <a16:creationId xmlns:a16="http://schemas.microsoft.com/office/drawing/2014/main" id="{E54E8594-AE20-27D7-6905-F488DB9F54F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4707983-6AAE-347D-ED2F-5E627EDBD73D}"/>
              </a:ext>
            </a:extLst>
          </p:cNvPr>
          <p:cNvSpPr/>
          <p:nvPr/>
        </p:nvSpPr>
        <p:spPr>
          <a:xfrm>
            <a:off x="0" y="0"/>
            <a:ext cx="9144000" cy="713232"/>
          </a:xfrm>
          <a:prstGeom prst="rect">
            <a:avLst/>
          </a:prstGeom>
          <a:solidFill>
            <a:srgbClr val="1A2E5A"/>
          </a:solidFill>
          <a:ln w="12700">
            <a:solidFill>
              <a:srgbClr val="1A2E5A"/>
            </a:solidFill>
            <a:prstDash val="solid"/>
          </a:ln>
        </p:spPr>
        <p:txBody>
          <a:bodyPr/>
          <a:lstStyle/>
          <a:p>
            <a:endParaRPr lang="es-CO"/>
          </a:p>
        </p:txBody>
      </p:sp>
      <p:sp>
        <p:nvSpPr>
          <p:cNvPr id="3" name="Shape 1">
            <a:extLst>
              <a:ext uri="{FF2B5EF4-FFF2-40B4-BE49-F238E27FC236}">
                <a16:creationId xmlns:a16="http://schemas.microsoft.com/office/drawing/2014/main" id="{3805434B-A5B3-4B01-C9C3-A82C62CA814F}"/>
              </a:ext>
            </a:extLst>
          </p:cNvPr>
          <p:cNvSpPr/>
          <p:nvPr/>
        </p:nvSpPr>
        <p:spPr>
          <a:xfrm>
            <a:off x="0" y="0"/>
            <a:ext cx="365760" cy="713232"/>
          </a:xfrm>
          <a:prstGeom prst="rect">
            <a:avLst/>
          </a:prstGeom>
          <a:solidFill>
            <a:srgbClr val="E8A020"/>
          </a:solidFill>
          <a:ln w="12700">
            <a:solidFill>
              <a:srgbClr val="E8A020"/>
            </a:solidFill>
            <a:prstDash val="solid"/>
          </a:ln>
        </p:spPr>
        <p:txBody>
          <a:bodyPr/>
          <a:lstStyle/>
          <a:p>
            <a:endParaRPr lang="es-CO"/>
          </a:p>
        </p:txBody>
      </p:sp>
      <p:sp>
        <p:nvSpPr>
          <p:cNvPr id="4" name="Text 2">
            <a:extLst>
              <a:ext uri="{FF2B5EF4-FFF2-40B4-BE49-F238E27FC236}">
                <a16:creationId xmlns:a16="http://schemas.microsoft.com/office/drawing/2014/main" id="{00D8B618-0C95-8E29-8E83-5A4E0A528C2B}"/>
              </a:ext>
            </a:extLst>
          </p:cNvPr>
          <p:cNvSpPr/>
          <p:nvPr/>
        </p:nvSpPr>
        <p:spPr>
          <a:xfrm>
            <a:off x="502920" y="0"/>
            <a:ext cx="8412480" cy="713232"/>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9. Evaluación Final — Datos de Prueba</a:t>
            </a:r>
            <a:endParaRPr lang="en-US" sz="2200" dirty="0"/>
          </a:p>
        </p:txBody>
      </p:sp>
      <p:sp>
        <p:nvSpPr>
          <p:cNvPr id="5" name="Text 3">
            <a:extLst>
              <a:ext uri="{FF2B5EF4-FFF2-40B4-BE49-F238E27FC236}">
                <a16:creationId xmlns:a16="http://schemas.microsoft.com/office/drawing/2014/main" id="{7A79BE08-A60C-C347-8C81-93D8AF0E5524}"/>
              </a:ext>
            </a:extLst>
          </p:cNvPr>
          <p:cNvSpPr/>
          <p:nvPr/>
        </p:nvSpPr>
        <p:spPr>
          <a:xfrm>
            <a:off x="365760" y="804672"/>
            <a:ext cx="8412480" cy="256032"/>
          </a:xfrm>
          <a:prstGeom prst="rect">
            <a:avLst/>
          </a:prstGeom>
          <a:noFill/>
          <a:ln/>
        </p:spPr>
        <p:txBody>
          <a:bodyPr wrap="square" rtlCol="0" anchor="ctr"/>
          <a:lstStyle/>
          <a:p>
            <a:pPr marL="0" indent="0">
              <a:buNone/>
            </a:pPr>
            <a:endParaRPr lang="en-US" sz="1300" dirty="0"/>
          </a:p>
        </p:txBody>
      </p:sp>
      <p:sp>
        <p:nvSpPr>
          <p:cNvPr id="6" name="Text 4">
            <a:extLst>
              <a:ext uri="{FF2B5EF4-FFF2-40B4-BE49-F238E27FC236}">
                <a16:creationId xmlns:a16="http://schemas.microsoft.com/office/drawing/2014/main" id="{527C474C-9FE5-E87F-827F-6B057853DC61}"/>
              </a:ext>
            </a:extLst>
          </p:cNvPr>
          <p:cNvSpPr/>
          <p:nvPr/>
        </p:nvSpPr>
        <p:spPr>
          <a:xfrm>
            <a:off x="365760" y="1051560"/>
            <a:ext cx="8412480" cy="365760"/>
          </a:xfrm>
          <a:prstGeom prst="rect">
            <a:avLst/>
          </a:prstGeom>
          <a:noFill/>
          <a:ln/>
        </p:spPr>
        <p:txBody>
          <a:bodyPr wrap="square" rtlCol="0" anchor="ctr"/>
          <a:lstStyle/>
          <a:p>
            <a:pPr marL="0" indent="0">
              <a:buNone/>
            </a:pPr>
            <a:endParaRPr lang="en-US" sz="1100" dirty="0"/>
          </a:p>
        </p:txBody>
      </p:sp>
      <p:sp>
        <p:nvSpPr>
          <p:cNvPr id="9" name="Text 6">
            <a:extLst>
              <a:ext uri="{FF2B5EF4-FFF2-40B4-BE49-F238E27FC236}">
                <a16:creationId xmlns:a16="http://schemas.microsoft.com/office/drawing/2014/main" id="{6BFC4C75-6CB6-FA70-8C86-AEA85A0D7706}"/>
              </a:ext>
            </a:extLst>
          </p:cNvPr>
          <p:cNvSpPr/>
          <p:nvPr/>
        </p:nvSpPr>
        <p:spPr>
          <a:xfrm>
            <a:off x="-399011" y="1446137"/>
            <a:ext cx="8321040" cy="365760"/>
          </a:xfrm>
          <a:prstGeom prst="rect">
            <a:avLst/>
          </a:prstGeom>
          <a:noFill/>
          <a:ln/>
        </p:spPr>
        <p:txBody>
          <a:bodyPr wrap="square" rtlCol="0" anchor="ctr"/>
          <a:lstStyle/>
          <a:p>
            <a:pPr marL="0" indent="0">
              <a:buNone/>
            </a:pPr>
            <a:endParaRPr lang="en-US" sz="950" dirty="0"/>
          </a:p>
        </p:txBody>
      </p:sp>
      <p:pic>
        <p:nvPicPr>
          <p:cNvPr id="10" name="Image 0" descr="preencoded.png">
            <a:extLst>
              <a:ext uri="{FF2B5EF4-FFF2-40B4-BE49-F238E27FC236}">
                <a16:creationId xmlns:a16="http://schemas.microsoft.com/office/drawing/2014/main" id="{78ED3F8E-154E-F510-B5B0-D3D9D452ABB5}"/>
              </a:ext>
            </a:extLst>
          </p:cNvPr>
          <p:cNvPicPr>
            <a:picLocks noChangeAspect="1"/>
          </p:cNvPicPr>
          <p:nvPr/>
        </p:nvPicPr>
        <p:blipFill>
          <a:blip r:embed="rId3"/>
          <a:stretch>
            <a:fillRect/>
          </a:stretch>
        </p:blipFill>
        <p:spPr>
          <a:xfrm>
            <a:off x="0" y="713232"/>
            <a:ext cx="8706272" cy="4333910"/>
          </a:xfrm>
          <a:prstGeom prst="rect">
            <a:avLst/>
          </a:prstGeom>
        </p:spPr>
      </p:pic>
      <p:sp>
        <p:nvSpPr>
          <p:cNvPr id="11" name="Text 7">
            <a:extLst>
              <a:ext uri="{FF2B5EF4-FFF2-40B4-BE49-F238E27FC236}">
                <a16:creationId xmlns:a16="http://schemas.microsoft.com/office/drawing/2014/main" id="{14FEBF14-E67A-8C50-B5F2-B24339856D0E}"/>
              </a:ext>
            </a:extLst>
          </p:cNvPr>
          <p:cNvSpPr/>
          <p:nvPr/>
        </p:nvSpPr>
        <p:spPr>
          <a:xfrm>
            <a:off x="-1587137" y="4984519"/>
            <a:ext cx="8412480" cy="182880"/>
          </a:xfrm>
          <a:prstGeom prst="rect">
            <a:avLst/>
          </a:prstGeom>
          <a:noFill/>
          <a:ln/>
        </p:spPr>
        <p:txBody>
          <a:bodyPr wrap="square" rtlCol="0" anchor="ctr"/>
          <a:lstStyle/>
          <a:p>
            <a:pPr marL="0" indent="0" algn="ctr">
              <a:buNone/>
            </a:pPr>
            <a:r>
              <a:rPr lang="en-US" sz="850" i="1" dirty="0">
                <a:solidFill>
                  <a:srgbClr val="718096"/>
                </a:solidFill>
                <a:latin typeface="Calibri" pitchFamily="34" charset="0"/>
                <a:ea typeface="Calibri" pitchFamily="34" charset="-122"/>
                <a:cs typeface="Calibri" pitchFamily="34" charset="-120"/>
              </a:rPr>
              <a:t>Gráfica 2. Panel diagnóstico: Matriz de Confusión, Curva ROC (AUC=0.768), Curva PR y Distribución de Probabilidades.</a:t>
            </a:r>
            <a:endParaRPr lang="en-US" sz="850" dirty="0"/>
          </a:p>
        </p:txBody>
      </p:sp>
    </p:spTree>
    <p:extLst>
      <p:ext uri="{BB962C8B-B14F-4D97-AF65-F5344CB8AC3E}">
        <p14:creationId xmlns:p14="http://schemas.microsoft.com/office/powerpoint/2010/main" val="4212789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6E8A"/>
          </a:solidFill>
          <a:ln w="12700">
            <a:solidFill>
              <a:srgbClr val="0D6E8A"/>
            </a:solidFill>
            <a:prstDash val="solid"/>
          </a:ln>
        </p:spPr>
        <p:txBody>
          <a:bodyPr/>
          <a:lstStyle/>
          <a:p>
            <a:endParaRPr lang="es-CO"/>
          </a:p>
        </p:txBody>
      </p:sp>
      <p:sp>
        <p:nvSpPr>
          <p:cNvPr id="3" name="Shape 1"/>
          <p:cNvSpPr/>
          <p:nvPr/>
        </p:nvSpPr>
        <p:spPr>
          <a:xfrm>
            <a:off x="0" y="0"/>
            <a:ext cx="365760" cy="713232"/>
          </a:xfrm>
          <a:prstGeom prst="rect">
            <a:avLst/>
          </a:prstGeom>
          <a:solidFill>
            <a:srgbClr val="E8A020"/>
          </a:solidFill>
          <a:ln w="12700">
            <a:solidFill>
              <a:srgbClr val="E8A020"/>
            </a:solidFill>
            <a:prstDash val="solid"/>
          </a:ln>
        </p:spPr>
        <p:txBody>
          <a:bodyPr/>
          <a:lstStyle/>
          <a:p>
            <a:endParaRPr lang="es-CO"/>
          </a:p>
        </p:txBody>
      </p:sp>
      <p:sp>
        <p:nvSpPr>
          <p:cNvPr id="4" name="Text 2"/>
          <p:cNvSpPr/>
          <p:nvPr/>
        </p:nvSpPr>
        <p:spPr>
          <a:xfrm>
            <a:off x="502920" y="0"/>
            <a:ext cx="8412480" cy="713232"/>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9. Lectura de Gráficas Diagnósticas</a:t>
            </a:r>
            <a:endParaRPr lang="en-US" sz="2200" dirty="0"/>
          </a:p>
        </p:txBody>
      </p:sp>
      <p:sp>
        <p:nvSpPr>
          <p:cNvPr id="5" name="Shape 3"/>
          <p:cNvSpPr/>
          <p:nvPr/>
        </p:nvSpPr>
        <p:spPr>
          <a:xfrm>
            <a:off x="274320" y="822960"/>
            <a:ext cx="8595360" cy="960120"/>
          </a:xfrm>
          <a:prstGeom prst="rect">
            <a:avLst/>
          </a:prstGeom>
          <a:solidFill>
            <a:srgbClr val="FFFFFF"/>
          </a:solidFill>
          <a:ln w="19050">
            <a:solidFill>
              <a:srgbClr val="0D6E8A"/>
            </a:solidFill>
            <a:prstDash val="solid"/>
          </a:ln>
        </p:spPr>
        <p:txBody>
          <a:bodyPr/>
          <a:lstStyle/>
          <a:p>
            <a:endParaRPr lang="es-CO"/>
          </a:p>
        </p:txBody>
      </p:sp>
      <p:sp>
        <p:nvSpPr>
          <p:cNvPr id="6" name="Shape 4"/>
          <p:cNvSpPr/>
          <p:nvPr/>
        </p:nvSpPr>
        <p:spPr>
          <a:xfrm>
            <a:off x="274320" y="822960"/>
            <a:ext cx="228600" cy="960120"/>
          </a:xfrm>
          <a:prstGeom prst="rect">
            <a:avLst/>
          </a:prstGeom>
          <a:solidFill>
            <a:srgbClr val="0D6E8A"/>
          </a:solidFill>
          <a:ln w="12700">
            <a:solidFill>
              <a:srgbClr val="0D6E8A"/>
            </a:solidFill>
            <a:prstDash val="solid"/>
          </a:ln>
        </p:spPr>
        <p:txBody>
          <a:bodyPr/>
          <a:lstStyle/>
          <a:p>
            <a:endParaRPr lang="es-CO"/>
          </a:p>
        </p:txBody>
      </p:sp>
      <p:sp>
        <p:nvSpPr>
          <p:cNvPr id="7" name="Text 5"/>
          <p:cNvSpPr/>
          <p:nvPr/>
        </p:nvSpPr>
        <p:spPr>
          <a:xfrm>
            <a:off x="594360" y="896112"/>
            <a:ext cx="8046720" cy="292608"/>
          </a:xfrm>
          <a:prstGeom prst="rect">
            <a:avLst/>
          </a:prstGeom>
          <a:noFill/>
          <a:ln/>
        </p:spPr>
        <p:txBody>
          <a:bodyPr wrap="square" rtlCol="0" anchor="ctr"/>
          <a:lstStyle/>
          <a:p>
            <a:pPr marL="0" indent="0">
              <a:buNone/>
            </a:pPr>
            <a:r>
              <a:rPr lang="en-US" sz="1150" b="1" dirty="0">
                <a:solidFill>
                  <a:srgbClr val="0D6E8A"/>
                </a:solidFill>
                <a:latin typeface="Calibri" pitchFamily="34" charset="0"/>
                <a:ea typeface="Calibri" pitchFamily="34" charset="-122"/>
                <a:cs typeface="Calibri" pitchFamily="34" charset="-120"/>
              </a:rPr>
              <a:t>Gráfica 2a — Matriz de Confusión</a:t>
            </a:r>
            <a:endParaRPr lang="en-US" sz="1150" dirty="0"/>
          </a:p>
        </p:txBody>
      </p:sp>
      <p:sp>
        <p:nvSpPr>
          <p:cNvPr id="8" name="Text 6"/>
          <p:cNvSpPr/>
          <p:nvPr/>
        </p:nvSpPr>
        <p:spPr>
          <a:xfrm>
            <a:off x="594360" y="1170432"/>
            <a:ext cx="7955280" cy="53035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VP ≈ (migrantes detectados) · FN ≈ (migrantes perdidos) · VN ≈  (correctamente no-migrantes) · FP ≈  (costo de Precision baja).</a:t>
            </a:r>
            <a:endParaRPr lang="en-US" sz="1050" dirty="0"/>
          </a:p>
        </p:txBody>
      </p:sp>
      <p:sp>
        <p:nvSpPr>
          <p:cNvPr id="9" name="Shape 7"/>
          <p:cNvSpPr/>
          <p:nvPr/>
        </p:nvSpPr>
        <p:spPr>
          <a:xfrm>
            <a:off x="274320" y="1874520"/>
            <a:ext cx="8595360" cy="960120"/>
          </a:xfrm>
          <a:prstGeom prst="rect">
            <a:avLst/>
          </a:prstGeom>
          <a:solidFill>
            <a:srgbClr val="FFFFFF"/>
          </a:solidFill>
          <a:ln w="19050">
            <a:solidFill>
              <a:srgbClr val="5B6FA8"/>
            </a:solidFill>
            <a:prstDash val="solid"/>
          </a:ln>
        </p:spPr>
        <p:txBody>
          <a:bodyPr/>
          <a:lstStyle/>
          <a:p>
            <a:endParaRPr lang="es-CO"/>
          </a:p>
        </p:txBody>
      </p:sp>
      <p:sp>
        <p:nvSpPr>
          <p:cNvPr id="10" name="Shape 8"/>
          <p:cNvSpPr/>
          <p:nvPr/>
        </p:nvSpPr>
        <p:spPr>
          <a:xfrm>
            <a:off x="274320" y="1874520"/>
            <a:ext cx="228600" cy="960120"/>
          </a:xfrm>
          <a:prstGeom prst="rect">
            <a:avLst/>
          </a:prstGeom>
          <a:solidFill>
            <a:srgbClr val="5B6FA8"/>
          </a:solidFill>
          <a:ln w="12700">
            <a:solidFill>
              <a:srgbClr val="5B6FA8"/>
            </a:solidFill>
            <a:prstDash val="solid"/>
          </a:ln>
        </p:spPr>
        <p:txBody>
          <a:bodyPr/>
          <a:lstStyle/>
          <a:p>
            <a:endParaRPr lang="es-CO"/>
          </a:p>
        </p:txBody>
      </p:sp>
      <p:sp>
        <p:nvSpPr>
          <p:cNvPr id="11" name="Text 9"/>
          <p:cNvSpPr/>
          <p:nvPr/>
        </p:nvSpPr>
        <p:spPr>
          <a:xfrm>
            <a:off x="594360" y="1947672"/>
            <a:ext cx="8046720" cy="292608"/>
          </a:xfrm>
          <a:prstGeom prst="rect">
            <a:avLst/>
          </a:prstGeom>
          <a:noFill/>
          <a:ln/>
        </p:spPr>
        <p:txBody>
          <a:bodyPr wrap="square" rtlCol="0" anchor="ctr"/>
          <a:lstStyle/>
          <a:p>
            <a:pPr marL="0" indent="0">
              <a:buNone/>
            </a:pPr>
            <a:r>
              <a:rPr lang="en-US" sz="1150" b="1" dirty="0">
                <a:solidFill>
                  <a:srgbClr val="5B6FA8"/>
                </a:solidFill>
                <a:latin typeface="Calibri" pitchFamily="34" charset="0"/>
                <a:ea typeface="Calibri" pitchFamily="34" charset="-122"/>
                <a:cs typeface="Calibri" pitchFamily="34" charset="-120"/>
              </a:rPr>
              <a:t>Gráfica 2b — Curva ROC</a:t>
            </a:r>
            <a:endParaRPr lang="en-US" sz="1150" dirty="0"/>
          </a:p>
        </p:txBody>
      </p:sp>
      <p:sp>
        <p:nvSpPr>
          <p:cNvPr id="12" name="Text 10"/>
          <p:cNvSpPr/>
          <p:nvPr/>
        </p:nvSpPr>
        <p:spPr>
          <a:xfrm>
            <a:off x="594360" y="2221992"/>
            <a:ext cx="7955280" cy="53035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La curva azul está sobre la diagonal (clasificador aleatorio). Con AUC=0.768, la curva asciende rápido hacia la esquina superior izquierda, confirmando capacidad discriminativa genuina e independiente del umbral.</a:t>
            </a:r>
            <a:endParaRPr lang="en-US" sz="1050" dirty="0"/>
          </a:p>
        </p:txBody>
      </p:sp>
      <p:sp>
        <p:nvSpPr>
          <p:cNvPr id="13" name="Shape 11"/>
          <p:cNvSpPr/>
          <p:nvPr/>
        </p:nvSpPr>
        <p:spPr>
          <a:xfrm>
            <a:off x="274320" y="2926080"/>
            <a:ext cx="8595360" cy="960120"/>
          </a:xfrm>
          <a:prstGeom prst="rect">
            <a:avLst/>
          </a:prstGeom>
          <a:solidFill>
            <a:srgbClr val="FFFFFF"/>
          </a:solidFill>
          <a:ln w="19050">
            <a:solidFill>
              <a:srgbClr val="27AE60"/>
            </a:solidFill>
            <a:prstDash val="solid"/>
          </a:ln>
        </p:spPr>
        <p:txBody>
          <a:bodyPr/>
          <a:lstStyle/>
          <a:p>
            <a:endParaRPr lang="es-CO"/>
          </a:p>
        </p:txBody>
      </p:sp>
      <p:sp>
        <p:nvSpPr>
          <p:cNvPr id="14" name="Shape 12"/>
          <p:cNvSpPr/>
          <p:nvPr/>
        </p:nvSpPr>
        <p:spPr>
          <a:xfrm>
            <a:off x="274320" y="2926080"/>
            <a:ext cx="228600" cy="960120"/>
          </a:xfrm>
          <a:prstGeom prst="rect">
            <a:avLst/>
          </a:prstGeom>
          <a:solidFill>
            <a:srgbClr val="27AE60"/>
          </a:solidFill>
          <a:ln w="12700">
            <a:solidFill>
              <a:srgbClr val="27AE60"/>
            </a:solidFill>
            <a:prstDash val="solid"/>
          </a:ln>
        </p:spPr>
        <p:txBody>
          <a:bodyPr/>
          <a:lstStyle/>
          <a:p>
            <a:endParaRPr lang="es-CO"/>
          </a:p>
        </p:txBody>
      </p:sp>
      <p:sp>
        <p:nvSpPr>
          <p:cNvPr id="15" name="Text 13"/>
          <p:cNvSpPr/>
          <p:nvPr/>
        </p:nvSpPr>
        <p:spPr>
          <a:xfrm>
            <a:off x="594360" y="2999232"/>
            <a:ext cx="8046720" cy="292608"/>
          </a:xfrm>
          <a:prstGeom prst="rect">
            <a:avLst/>
          </a:prstGeom>
          <a:noFill/>
          <a:ln/>
        </p:spPr>
        <p:txBody>
          <a:bodyPr wrap="square" rtlCol="0" anchor="ctr"/>
          <a:lstStyle/>
          <a:p>
            <a:pPr marL="0" indent="0">
              <a:buNone/>
            </a:pPr>
            <a:r>
              <a:rPr lang="en-US" sz="1150" b="1" dirty="0">
                <a:solidFill>
                  <a:srgbClr val="27AE60"/>
                </a:solidFill>
                <a:latin typeface="Calibri" pitchFamily="34" charset="0"/>
                <a:ea typeface="Calibri" pitchFamily="34" charset="-122"/>
                <a:cs typeface="Calibri" pitchFamily="34" charset="-120"/>
              </a:rPr>
              <a:t>Gráfica 2c — Curva PR</a:t>
            </a:r>
            <a:endParaRPr lang="en-US" sz="1150" dirty="0"/>
          </a:p>
        </p:txBody>
      </p:sp>
      <p:sp>
        <p:nvSpPr>
          <p:cNvPr id="16" name="Text 14"/>
          <p:cNvSpPr/>
          <p:nvPr/>
        </p:nvSpPr>
        <p:spPr>
          <a:xfrm>
            <a:off x="594360" y="3273552"/>
            <a:ext cx="7955280" cy="53035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La línea gris es la baseline (2.53%). Cualquier punto de la curva naranja por encima indica que el modelo supera al azar. PR-AUC = 0.111 significa 4.4× más señal que el azar.</a:t>
            </a:r>
            <a:endParaRPr lang="en-US" sz="1050" dirty="0"/>
          </a:p>
        </p:txBody>
      </p:sp>
      <p:sp>
        <p:nvSpPr>
          <p:cNvPr id="17" name="Shape 15"/>
          <p:cNvSpPr/>
          <p:nvPr/>
        </p:nvSpPr>
        <p:spPr>
          <a:xfrm>
            <a:off x="274320" y="3977640"/>
            <a:ext cx="8595360" cy="960120"/>
          </a:xfrm>
          <a:prstGeom prst="rect">
            <a:avLst/>
          </a:prstGeom>
          <a:solidFill>
            <a:srgbClr val="FFFFFF"/>
          </a:solidFill>
          <a:ln w="19050">
            <a:solidFill>
              <a:srgbClr val="C0392B"/>
            </a:solidFill>
            <a:prstDash val="solid"/>
          </a:ln>
        </p:spPr>
        <p:txBody>
          <a:bodyPr/>
          <a:lstStyle/>
          <a:p>
            <a:endParaRPr lang="es-CO"/>
          </a:p>
        </p:txBody>
      </p:sp>
      <p:sp>
        <p:nvSpPr>
          <p:cNvPr id="18" name="Shape 16"/>
          <p:cNvSpPr/>
          <p:nvPr/>
        </p:nvSpPr>
        <p:spPr>
          <a:xfrm>
            <a:off x="274320" y="3977640"/>
            <a:ext cx="228600" cy="960120"/>
          </a:xfrm>
          <a:prstGeom prst="rect">
            <a:avLst/>
          </a:prstGeom>
          <a:solidFill>
            <a:srgbClr val="C0392B"/>
          </a:solidFill>
          <a:ln w="12700">
            <a:solidFill>
              <a:srgbClr val="C0392B"/>
            </a:solidFill>
            <a:prstDash val="solid"/>
          </a:ln>
        </p:spPr>
        <p:txBody>
          <a:bodyPr/>
          <a:lstStyle/>
          <a:p>
            <a:endParaRPr lang="es-CO"/>
          </a:p>
        </p:txBody>
      </p:sp>
      <p:sp>
        <p:nvSpPr>
          <p:cNvPr id="19" name="Text 17"/>
          <p:cNvSpPr/>
          <p:nvPr/>
        </p:nvSpPr>
        <p:spPr>
          <a:xfrm>
            <a:off x="594360" y="4050792"/>
            <a:ext cx="8046720" cy="292608"/>
          </a:xfrm>
          <a:prstGeom prst="rect">
            <a:avLst/>
          </a:prstGeom>
          <a:noFill/>
          <a:ln/>
        </p:spPr>
        <p:txBody>
          <a:bodyPr wrap="square" rtlCol="0" anchor="ctr"/>
          <a:lstStyle/>
          <a:p>
            <a:pPr marL="0" indent="0">
              <a:buNone/>
            </a:pPr>
            <a:r>
              <a:rPr lang="en-US" sz="1150" b="1" dirty="0">
                <a:solidFill>
                  <a:srgbClr val="C0392B"/>
                </a:solidFill>
                <a:latin typeface="Calibri" pitchFamily="34" charset="0"/>
                <a:ea typeface="Calibri" pitchFamily="34" charset="-122"/>
                <a:cs typeface="Calibri" pitchFamily="34" charset="-120"/>
              </a:rPr>
              <a:t>Gráfica 2d — Distribución de Probabilidades</a:t>
            </a:r>
            <a:endParaRPr lang="en-US" sz="1150" dirty="0"/>
          </a:p>
        </p:txBody>
      </p:sp>
      <p:sp>
        <p:nvSpPr>
          <p:cNvPr id="20" name="Text 18"/>
          <p:cNvSpPr/>
          <p:nvPr/>
        </p:nvSpPr>
        <p:spPr>
          <a:xfrm>
            <a:off x="594360" y="4325112"/>
            <a:ext cx="7955280" cy="53035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Distribuciones azul (no migrantes) y naranja (migrantes) fuertemente solapadas en valores bajos. Solo la naranja tiene cola derecha más larga. El problema es difícil: muchos migrantes son indistinguibles con las variables disponibles.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E5A"/>
          </a:solidFill>
          <a:ln w="12700">
            <a:solidFill>
              <a:srgbClr val="1A2E5A"/>
            </a:solidFill>
            <a:prstDash val="solid"/>
          </a:ln>
        </p:spPr>
        <p:txBody>
          <a:bodyPr/>
          <a:lstStyle/>
          <a:p>
            <a:endParaRPr lang="es-CO"/>
          </a:p>
        </p:txBody>
      </p:sp>
      <p:sp>
        <p:nvSpPr>
          <p:cNvPr id="3" name="Shape 1"/>
          <p:cNvSpPr/>
          <p:nvPr/>
        </p:nvSpPr>
        <p:spPr>
          <a:xfrm>
            <a:off x="0" y="0"/>
            <a:ext cx="365760" cy="713232"/>
          </a:xfrm>
          <a:prstGeom prst="rect">
            <a:avLst/>
          </a:prstGeom>
          <a:solidFill>
            <a:srgbClr val="E8A020"/>
          </a:solidFill>
          <a:ln w="12700">
            <a:solidFill>
              <a:srgbClr val="E8A020"/>
            </a:solidFill>
            <a:prstDash val="solid"/>
          </a:ln>
        </p:spPr>
        <p:txBody>
          <a:bodyPr/>
          <a:lstStyle/>
          <a:p>
            <a:endParaRPr lang="es-CO"/>
          </a:p>
        </p:txBody>
      </p:sp>
      <p:sp>
        <p:nvSpPr>
          <p:cNvPr id="4" name="Text 2"/>
          <p:cNvSpPr/>
          <p:nvPr/>
        </p:nvSpPr>
        <p:spPr>
          <a:xfrm>
            <a:off x="502920" y="0"/>
            <a:ext cx="8412480" cy="71323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10A. Feature Importances Nativas — Top Variables</a:t>
            </a:r>
            <a:endParaRPr lang="en-US" sz="2000" dirty="0"/>
          </a:p>
        </p:txBody>
      </p:sp>
      <p:sp>
        <p:nvSpPr>
          <p:cNvPr id="5" name="Text 3"/>
          <p:cNvSpPr/>
          <p:nvPr/>
        </p:nvSpPr>
        <p:spPr>
          <a:xfrm>
            <a:off x="365760" y="804672"/>
            <a:ext cx="8412480" cy="256032"/>
          </a:xfrm>
          <a:prstGeom prst="rect">
            <a:avLst/>
          </a:prstGeom>
          <a:noFill/>
          <a:ln/>
        </p:spPr>
        <p:txBody>
          <a:bodyPr wrap="square" rtlCol="0" anchor="ctr"/>
          <a:lstStyle/>
          <a:p>
            <a:pPr marL="0" indent="0">
              <a:buNone/>
            </a:pPr>
            <a:r>
              <a:rPr lang="en-US" sz="1300" b="1" dirty="0">
                <a:solidFill>
                  <a:srgbClr val="0D6E8A"/>
                </a:solidFill>
                <a:latin typeface="Calibri" pitchFamily="34" charset="0"/>
                <a:ea typeface="Calibri" pitchFamily="34" charset="-122"/>
                <a:cs typeface="Calibri" pitchFamily="34" charset="-120"/>
              </a:rPr>
              <a:t>¿Qué se hizo?</a:t>
            </a:r>
            <a:endParaRPr lang="en-US" sz="1300" dirty="0"/>
          </a:p>
        </p:txBody>
      </p:sp>
      <p:sp>
        <p:nvSpPr>
          <p:cNvPr id="6" name="Text 4"/>
          <p:cNvSpPr/>
          <p:nvPr/>
        </p:nvSpPr>
        <p:spPr>
          <a:xfrm>
            <a:off x="365760" y="1060704"/>
            <a:ext cx="8412480" cy="29260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Se analizó la importancia de variables usando las importancias nativas del árbol (basadas en ganancia de información en los splits).</a:t>
            </a:r>
            <a:endParaRPr lang="en-US" sz="1100" dirty="0"/>
          </a:p>
        </p:txBody>
      </p:sp>
      <p:pic>
        <p:nvPicPr>
          <p:cNvPr id="7" name="Image 0" descr="preencoded.png"/>
          <p:cNvPicPr>
            <a:picLocks noChangeAspect="1"/>
          </p:cNvPicPr>
          <p:nvPr/>
        </p:nvPicPr>
        <p:blipFill>
          <a:blip r:embed="rId3"/>
          <a:stretch>
            <a:fillRect/>
          </a:stretch>
        </p:blipFill>
        <p:spPr>
          <a:xfrm>
            <a:off x="274320" y="1408176"/>
            <a:ext cx="5120640" cy="3063240"/>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577840" y="1408176"/>
          <a:ext cx="3291840" cy="3017520"/>
        </p:xfrm>
        <a:graphic>
          <a:graphicData uri="http://schemas.openxmlformats.org/drawingml/2006/table">
            <a:tbl>
              <a:tblPr/>
              <a:tblGrid>
                <a:gridCol w="21031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27432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Variable</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1A2E5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Importancia</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1A2E5A"/>
                    </a:solidFill>
                  </a:tcPr>
                </a:tc>
                <a:extLst>
                  <a:ext uri="{0D108BD9-81ED-4DB2-BD59-A6C34878D82A}">
                    <a16:rowId xmlns:a16="http://schemas.microsoft.com/office/drawing/2014/main" val="10000"/>
                  </a:ext>
                </a:extLst>
              </a:tr>
              <a:tr h="274320">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afiliado_salud ⚠</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00" b="1" dirty="0">
                          <a:solidFill>
                            <a:srgbClr val="C0392B"/>
                          </a:solidFill>
                          <a:latin typeface="Calibri" pitchFamily="34" charset="0"/>
                          <a:ea typeface="Calibri" pitchFamily="34" charset="-122"/>
                          <a:cs typeface="Calibri" pitchFamily="34" charset="-120"/>
                        </a:rPr>
                        <a:t>0.6685</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depto_actual</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0.0710</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edad</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0.0666</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clase</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0.0293</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ingreso_total</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0.0279</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formalidad</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0.0271</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estado_laboral</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0.0261</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Educacion</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0.0168</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4320">
                <a:tc>
                  <a:txBody>
                    <a:bodyPr/>
                    <a:lstStyle/>
                    <a:p>
                      <a:pPr marL="0" indent="0">
                        <a:buNone/>
                      </a:pPr>
                      <a:r>
                        <a:rPr lang="en-US" sz="1000" dirty="0">
                          <a:solidFill>
                            <a:srgbClr val="718096"/>
                          </a:solidFill>
                          <a:latin typeface="Calibri" pitchFamily="34" charset="0"/>
                          <a:ea typeface="Calibri" pitchFamily="34" charset="-122"/>
                          <a:cs typeface="Calibri" pitchFamily="34" charset="-120"/>
                        </a:rPr>
                        <a:t>grupo_edad</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00" dirty="0">
                          <a:solidFill>
                            <a:srgbClr val="718096"/>
                          </a:solidFill>
                          <a:latin typeface="Calibri" pitchFamily="34" charset="0"/>
                          <a:ea typeface="Calibri" pitchFamily="34" charset="-122"/>
                          <a:cs typeface="Calibri" pitchFamily="34" charset="-120"/>
                        </a:rPr>
                        <a:t>0.0000</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buNone/>
                      </a:pPr>
                      <a:r>
                        <a:rPr lang="en-US" sz="1000" dirty="0">
                          <a:solidFill>
                            <a:srgbClr val="718096"/>
                          </a:solidFill>
                          <a:latin typeface="Calibri" pitchFamily="34" charset="0"/>
                          <a:ea typeface="Calibri" pitchFamily="34" charset="-122"/>
                          <a:cs typeface="Calibri" pitchFamily="34" charset="-120"/>
                        </a:rPr>
                        <a:t>log_ingreso</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tc>
                  <a:txBody>
                    <a:bodyPr/>
                    <a:lstStyle/>
                    <a:p>
                      <a:pPr marL="0" indent="0">
                        <a:buNone/>
                      </a:pPr>
                      <a:r>
                        <a:rPr lang="en-US" sz="1000" dirty="0">
                          <a:solidFill>
                            <a:srgbClr val="718096"/>
                          </a:solidFill>
                          <a:latin typeface="Calibri" pitchFamily="34" charset="0"/>
                          <a:ea typeface="Calibri" pitchFamily="34" charset="-122"/>
                          <a:cs typeface="Calibri" pitchFamily="34" charset="-120"/>
                        </a:rPr>
                        <a:t>0.0000</a:t>
                      </a:r>
                      <a:endParaRPr lang="en-US" sz="1000" dirty="0">
                        <a:latin typeface="Calibri" charset="0"/>
                        <a:ea typeface="Calibri" charset="0"/>
                        <a:cs typeface="Calibri" charset="0"/>
                      </a:endParaRPr>
                    </a:p>
                  </a:txBody>
                  <a:tcPr>
                    <a:lnL w="12700" cap="flat" cmpd="sng" algn="ctr">
                      <a:solidFill>
                        <a:srgbClr val="C5D5E5"/>
                      </a:solidFill>
                      <a:prstDash val="solid"/>
                      <a:round/>
                      <a:headEnd type="none" w="med" len="med"/>
                      <a:tailEnd type="none" w="med" len="med"/>
                    </a:lnL>
                    <a:lnR w="12700" cap="flat" cmpd="sng" algn="ctr">
                      <a:solidFill>
                        <a:srgbClr val="C5D5E5"/>
                      </a:solidFill>
                      <a:prstDash val="solid"/>
                      <a:round/>
                      <a:headEnd type="none" w="med" len="med"/>
                      <a:tailEnd type="none" w="med" len="med"/>
                    </a:lnR>
                    <a:lnT w="12700" cap="flat" cmpd="sng" algn="ctr">
                      <a:solidFill>
                        <a:srgbClr val="C5D5E5"/>
                      </a:solidFill>
                      <a:prstDash val="solid"/>
                      <a:round/>
                      <a:headEnd type="none" w="med" len="med"/>
                      <a:tailEnd type="none" w="med" len="med"/>
                    </a:lnT>
                    <a:lnB w="12700" cap="flat" cmpd="sng" algn="ctr">
                      <a:solidFill>
                        <a:srgbClr val="C5D5E5"/>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8" name="Text 5"/>
          <p:cNvSpPr/>
          <p:nvPr/>
        </p:nvSpPr>
        <p:spPr>
          <a:xfrm>
            <a:off x="274320" y="4572000"/>
            <a:ext cx="8595360" cy="502920"/>
          </a:xfrm>
          <a:prstGeom prst="rect">
            <a:avLst/>
          </a:prstGeom>
          <a:noFill/>
          <a:ln/>
        </p:spPr>
        <p:txBody>
          <a:bodyPr wrap="square" rtlCol="0" anchor="ctr"/>
          <a:lstStyle/>
          <a:p>
            <a:pPr marL="0" indent="0">
              <a:buNone/>
            </a:pPr>
            <a:r>
              <a:rPr lang="en-US" sz="950" i="1" dirty="0">
                <a:solidFill>
                  <a:srgbClr val="718096"/>
                </a:solidFill>
                <a:latin typeface="Calibri" pitchFamily="34" charset="0"/>
                <a:ea typeface="Calibri" pitchFamily="34" charset="-122"/>
                <a:cs typeface="Calibri" pitchFamily="34" charset="-120"/>
              </a:rPr>
              <a:t>Lectura: La barra de afiliado_salud (66.85%) es desproporcionada — señal de alerta de posible proxy del target. Las variables grupo_edad y log_ingreso con importancia 0.000 son completamente redundantes con edad e ingreso_total y el modelo nunca las usó.</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E5A"/>
          </a:solidFill>
          <a:ln w="12700">
            <a:solidFill>
              <a:srgbClr val="1A2E5A"/>
            </a:solidFill>
            <a:prstDash val="solid"/>
          </a:ln>
        </p:spPr>
        <p:txBody>
          <a:bodyPr/>
          <a:lstStyle/>
          <a:p>
            <a:endParaRPr lang="es-CO"/>
          </a:p>
        </p:txBody>
      </p:sp>
      <p:sp>
        <p:nvSpPr>
          <p:cNvPr id="3" name="Shape 1"/>
          <p:cNvSpPr/>
          <p:nvPr/>
        </p:nvSpPr>
        <p:spPr>
          <a:xfrm>
            <a:off x="0" y="0"/>
            <a:ext cx="365760" cy="713232"/>
          </a:xfrm>
          <a:prstGeom prst="rect">
            <a:avLst/>
          </a:prstGeom>
          <a:solidFill>
            <a:srgbClr val="E8A020"/>
          </a:solidFill>
          <a:ln w="12700">
            <a:solidFill>
              <a:srgbClr val="E8A020"/>
            </a:solidFill>
            <a:prstDash val="solid"/>
          </a:ln>
        </p:spPr>
        <p:txBody>
          <a:bodyPr/>
          <a:lstStyle/>
          <a:p>
            <a:endParaRPr lang="es-CO"/>
          </a:p>
        </p:txBody>
      </p:sp>
      <p:sp>
        <p:nvSpPr>
          <p:cNvPr id="4" name="Text 2"/>
          <p:cNvSpPr/>
          <p:nvPr/>
        </p:nvSpPr>
        <p:spPr>
          <a:xfrm>
            <a:off x="502920" y="0"/>
            <a:ext cx="8412480" cy="713232"/>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10B. SHAP — Summary Plot (Beeswarm)</a:t>
            </a:r>
            <a:endParaRPr lang="en-US" sz="2200" dirty="0"/>
          </a:p>
        </p:txBody>
      </p:sp>
      <p:sp>
        <p:nvSpPr>
          <p:cNvPr id="5" name="Text 3"/>
          <p:cNvSpPr/>
          <p:nvPr/>
        </p:nvSpPr>
        <p:spPr>
          <a:xfrm>
            <a:off x="365760" y="804672"/>
            <a:ext cx="4297680" cy="256032"/>
          </a:xfrm>
          <a:prstGeom prst="rect">
            <a:avLst/>
          </a:prstGeom>
          <a:noFill/>
          <a:ln/>
        </p:spPr>
        <p:txBody>
          <a:bodyPr wrap="square" rtlCol="0" anchor="ctr"/>
          <a:lstStyle/>
          <a:p>
            <a:pPr marL="0" indent="0">
              <a:buNone/>
            </a:pPr>
            <a:r>
              <a:rPr lang="en-US" sz="1300" b="1" dirty="0">
                <a:solidFill>
                  <a:srgbClr val="0D6E8A"/>
                </a:solidFill>
                <a:latin typeface="Calibri" pitchFamily="34" charset="0"/>
                <a:ea typeface="Calibri" pitchFamily="34" charset="-122"/>
                <a:cs typeface="Calibri" pitchFamily="34" charset="-120"/>
              </a:rPr>
              <a:t>¿Qué se hizo?</a:t>
            </a:r>
            <a:endParaRPr lang="en-US" sz="1300" dirty="0"/>
          </a:p>
        </p:txBody>
      </p:sp>
      <p:sp>
        <p:nvSpPr>
          <p:cNvPr id="6" name="Text 4"/>
          <p:cNvSpPr/>
          <p:nvPr/>
        </p:nvSpPr>
        <p:spPr>
          <a:xfrm>
            <a:off x="365760" y="1060704"/>
            <a:ext cx="4297680" cy="54864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Se calcularon los valores SHAP (Shapley Additive Explanations) — miden la contribución marginal de cada variable a cada predicción individual. Muestra 5.000 obs. del train.</a:t>
            </a:r>
            <a:endParaRPr lang="en-US" sz="1100" dirty="0"/>
          </a:p>
        </p:txBody>
      </p:sp>
      <p:pic>
        <p:nvPicPr>
          <p:cNvPr id="7" name="Image 0" descr="preencoded.png"/>
          <p:cNvPicPr>
            <a:picLocks noChangeAspect="1"/>
          </p:cNvPicPr>
          <p:nvPr/>
        </p:nvPicPr>
        <p:blipFill>
          <a:blip r:embed="rId3"/>
          <a:stretch>
            <a:fillRect/>
          </a:stretch>
        </p:blipFill>
        <p:spPr>
          <a:xfrm>
            <a:off x="228600" y="1691640"/>
            <a:ext cx="4389120" cy="3337560"/>
          </a:xfrm>
          <a:prstGeom prst="rect">
            <a:avLst/>
          </a:prstGeom>
        </p:spPr>
      </p:pic>
      <p:sp>
        <p:nvSpPr>
          <p:cNvPr id="8" name="Text 5"/>
          <p:cNvSpPr/>
          <p:nvPr/>
        </p:nvSpPr>
        <p:spPr>
          <a:xfrm>
            <a:off x="4846320" y="804672"/>
            <a:ext cx="4023360" cy="292608"/>
          </a:xfrm>
          <a:prstGeom prst="rect">
            <a:avLst/>
          </a:prstGeom>
          <a:noFill/>
          <a:ln/>
        </p:spPr>
        <p:txBody>
          <a:bodyPr wrap="square" rtlCol="0" anchor="ctr"/>
          <a:lstStyle/>
          <a:p>
            <a:pPr marL="0" indent="0">
              <a:buNone/>
            </a:pPr>
            <a:r>
              <a:rPr lang="en-US" sz="1300" b="1" dirty="0">
                <a:solidFill>
                  <a:srgbClr val="0D6E8A"/>
                </a:solidFill>
                <a:latin typeface="Calibri" pitchFamily="34" charset="0"/>
                <a:ea typeface="Calibri" pitchFamily="34" charset="-122"/>
                <a:cs typeface="Calibri" pitchFamily="34" charset="-120"/>
              </a:rPr>
              <a:t>Lectura del SHAP Beeswarm</a:t>
            </a:r>
            <a:endParaRPr lang="en-US" sz="1300" dirty="0"/>
          </a:p>
        </p:txBody>
      </p:sp>
      <p:sp>
        <p:nvSpPr>
          <p:cNvPr id="9" name="Shape 6"/>
          <p:cNvSpPr/>
          <p:nvPr/>
        </p:nvSpPr>
        <p:spPr>
          <a:xfrm>
            <a:off x="4846320" y="1170432"/>
            <a:ext cx="3977640" cy="896112"/>
          </a:xfrm>
          <a:prstGeom prst="rect">
            <a:avLst/>
          </a:prstGeom>
          <a:solidFill>
            <a:srgbClr val="FFFFFF"/>
          </a:solidFill>
          <a:ln w="12700">
            <a:solidFill>
              <a:srgbClr val="E8EEF4"/>
            </a:solidFill>
            <a:prstDash val="solid"/>
          </a:ln>
        </p:spPr>
        <p:txBody>
          <a:bodyPr/>
          <a:lstStyle/>
          <a:p>
            <a:endParaRPr lang="es-CO"/>
          </a:p>
        </p:txBody>
      </p:sp>
      <p:sp>
        <p:nvSpPr>
          <p:cNvPr id="10" name="Text 7"/>
          <p:cNvSpPr/>
          <p:nvPr/>
        </p:nvSpPr>
        <p:spPr>
          <a:xfrm>
            <a:off x="4983480" y="1216152"/>
            <a:ext cx="3657600" cy="256032"/>
          </a:xfrm>
          <a:prstGeom prst="rect">
            <a:avLst/>
          </a:prstGeom>
          <a:noFill/>
          <a:ln/>
        </p:spPr>
        <p:txBody>
          <a:bodyPr wrap="square" rtlCol="0" anchor="ctr"/>
          <a:lstStyle/>
          <a:p>
            <a:pPr marL="0" indent="0">
              <a:buNone/>
            </a:pPr>
            <a:r>
              <a:rPr lang="en-US" sz="1100" b="1" dirty="0">
                <a:solidFill>
                  <a:srgbClr val="1A2E5A"/>
                </a:solidFill>
                <a:latin typeface="Calibri" pitchFamily="34" charset="0"/>
                <a:ea typeface="Calibri" pitchFamily="34" charset="-122"/>
                <a:cs typeface="Calibri" pitchFamily="34" charset="-120"/>
              </a:rPr>
              <a:t>Cómo leer</a:t>
            </a:r>
            <a:endParaRPr lang="en-US" sz="1100" dirty="0"/>
          </a:p>
        </p:txBody>
      </p:sp>
      <p:sp>
        <p:nvSpPr>
          <p:cNvPr id="11" name="Text 8"/>
          <p:cNvSpPr/>
          <p:nvPr/>
        </p:nvSpPr>
        <p:spPr>
          <a:xfrm>
            <a:off x="4983480" y="1463040"/>
            <a:ext cx="3657600" cy="54864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Cada punto = una observación. Eje X = valor SHAP (positivo → migra, negativo → no migra). Color: azul=valor bajo, rojo=valor alto.</a:t>
            </a:r>
            <a:endParaRPr lang="en-US" sz="1000" dirty="0"/>
          </a:p>
        </p:txBody>
      </p:sp>
      <p:sp>
        <p:nvSpPr>
          <p:cNvPr id="12" name="Shape 9"/>
          <p:cNvSpPr/>
          <p:nvPr/>
        </p:nvSpPr>
        <p:spPr>
          <a:xfrm>
            <a:off x="4846320" y="2139696"/>
            <a:ext cx="3977640" cy="896112"/>
          </a:xfrm>
          <a:prstGeom prst="rect">
            <a:avLst/>
          </a:prstGeom>
          <a:solidFill>
            <a:srgbClr val="FFFFFF"/>
          </a:solidFill>
          <a:ln w="12700">
            <a:solidFill>
              <a:srgbClr val="E8EEF4"/>
            </a:solidFill>
            <a:prstDash val="solid"/>
          </a:ln>
        </p:spPr>
        <p:txBody>
          <a:bodyPr/>
          <a:lstStyle/>
          <a:p>
            <a:endParaRPr lang="es-CO"/>
          </a:p>
        </p:txBody>
      </p:sp>
      <p:sp>
        <p:nvSpPr>
          <p:cNvPr id="13" name="Text 10"/>
          <p:cNvSpPr/>
          <p:nvPr/>
        </p:nvSpPr>
        <p:spPr>
          <a:xfrm>
            <a:off x="4983480" y="2185416"/>
            <a:ext cx="3657600" cy="256032"/>
          </a:xfrm>
          <a:prstGeom prst="rect">
            <a:avLst/>
          </a:prstGeom>
          <a:noFill/>
          <a:ln/>
        </p:spPr>
        <p:txBody>
          <a:bodyPr wrap="square" rtlCol="0" anchor="ctr"/>
          <a:lstStyle/>
          <a:p>
            <a:pPr marL="0" indent="0">
              <a:buNone/>
            </a:pPr>
            <a:r>
              <a:rPr lang="en-US" sz="1100" b="1" dirty="0">
                <a:solidFill>
                  <a:srgbClr val="1A2E5A"/>
                </a:solidFill>
                <a:latin typeface="Calibri" pitchFamily="34" charset="0"/>
                <a:ea typeface="Calibri" pitchFamily="34" charset="-122"/>
                <a:cs typeface="Calibri" pitchFamily="34" charset="-120"/>
              </a:rPr>
              <a:t>afiliado_salud</a:t>
            </a:r>
            <a:endParaRPr lang="en-US" sz="1100" dirty="0"/>
          </a:p>
        </p:txBody>
      </p:sp>
      <p:sp>
        <p:nvSpPr>
          <p:cNvPr id="14" name="Text 11"/>
          <p:cNvSpPr/>
          <p:nvPr/>
        </p:nvSpPr>
        <p:spPr>
          <a:xfrm>
            <a:off x="4983480" y="2432304"/>
            <a:ext cx="3657600" cy="54864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Rojo (afiliado=1) → izquierda (reduce prob. migrar). Azul (no afiliado=0) → derecha (aumenta prob.). No afiliados tienen mayor propensión a migrar.</a:t>
            </a:r>
            <a:endParaRPr lang="en-US" sz="1000" dirty="0"/>
          </a:p>
        </p:txBody>
      </p:sp>
      <p:sp>
        <p:nvSpPr>
          <p:cNvPr id="15" name="Shape 12"/>
          <p:cNvSpPr/>
          <p:nvPr/>
        </p:nvSpPr>
        <p:spPr>
          <a:xfrm>
            <a:off x="4846320" y="3108960"/>
            <a:ext cx="3977640" cy="896112"/>
          </a:xfrm>
          <a:prstGeom prst="rect">
            <a:avLst/>
          </a:prstGeom>
          <a:solidFill>
            <a:srgbClr val="FFFFFF"/>
          </a:solidFill>
          <a:ln w="12700">
            <a:solidFill>
              <a:srgbClr val="E8EEF4"/>
            </a:solidFill>
            <a:prstDash val="solid"/>
          </a:ln>
        </p:spPr>
        <p:txBody>
          <a:bodyPr/>
          <a:lstStyle/>
          <a:p>
            <a:endParaRPr lang="es-CO"/>
          </a:p>
        </p:txBody>
      </p:sp>
      <p:sp>
        <p:nvSpPr>
          <p:cNvPr id="16" name="Text 13"/>
          <p:cNvSpPr/>
          <p:nvPr/>
        </p:nvSpPr>
        <p:spPr>
          <a:xfrm>
            <a:off x="4983480" y="3154680"/>
            <a:ext cx="3657600" cy="256032"/>
          </a:xfrm>
          <a:prstGeom prst="rect">
            <a:avLst/>
          </a:prstGeom>
          <a:noFill/>
          <a:ln/>
        </p:spPr>
        <p:txBody>
          <a:bodyPr wrap="square" rtlCol="0" anchor="ctr"/>
          <a:lstStyle/>
          <a:p>
            <a:pPr marL="0" indent="0">
              <a:buNone/>
            </a:pPr>
            <a:r>
              <a:rPr lang="en-US" sz="1100" b="1" dirty="0">
                <a:solidFill>
                  <a:srgbClr val="1A2E5A"/>
                </a:solidFill>
                <a:latin typeface="Calibri" pitchFamily="34" charset="0"/>
                <a:ea typeface="Calibri" pitchFamily="34" charset="-122"/>
                <a:cs typeface="Calibri" pitchFamily="34" charset="-120"/>
              </a:rPr>
              <a:t>edad</a:t>
            </a:r>
            <a:endParaRPr lang="en-US" sz="1100" dirty="0"/>
          </a:p>
        </p:txBody>
      </p:sp>
      <p:sp>
        <p:nvSpPr>
          <p:cNvPr id="17" name="Text 14"/>
          <p:cNvSpPr/>
          <p:nvPr/>
        </p:nvSpPr>
        <p:spPr>
          <a:xfrm>
            <a:off x="4983480" y="3401568"/>
            <a:ext cx="3657600" cy="54864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Puntos azules (jóvenes) → derecha. Confirma que ser joven aumenta la probabilidad de migrar.</a:t>
            </a:r>
            <a:endParaRPr lang="en-US" sz="1000" dirty="0"/>
          </a:p>
        </p:txBody>
      </p:sp>
      <p:sp>
        <p:nvSpPr>
          <p:cNvPr id="18" name="Shape 15"/>
          <p:cNvSpPr/>
          <p:nvPr/>
        </p:nvSpPr>
        <p:spPr>
          <a:xfrm>
            <a:off x="4846320" y="4078224"/>
            <a:ext cx="3977640" cy="896112"/>
          </a:xfrm>
          <a:prstGeom prst="rect">
            <a:avLst/>
          </a:prstGeom>
          <a:solidFill>
            <a:srgbClr val="FFFFFF"/>
          </a:solidFill>
          <a:ln w="12700">
            <a:solidFill>
              <a:srgbClr val="E8EEF4"/>
            </a:solidFill>
            <a:prstDash val="solid"/>
          </a:ln>
        </p:spPr>
        <p:txBody>
          <a:bodyPr/>
          <a:lstStyle/>
          <a:p>
            <a:endParaRPr lang="es-CO"/>
          </a:p>
        </p:txBody>
      </p:sp>
      <p:sp>
        <p:nvSpPr>
          <p:cNvPr id="19" name="Text 16"/>
          <p:cNvSpPr/>
          <p:nvPr/>
        </p:nvSpPr>
        <p:spPr>
          <a:xfrm>
            <a:off x="4983480" y="4123944"/>
            <a:ext cx="3657600" cy="256032"/>
          </a:xfrm>
          <a:prstGeom prst="rect">
            <a:avLst/>
          </a:prstGeom>
          <a:noFill/>
          <a:ln/>
        </p:spPr>
        <p:txBody>
          <a:bodyPr wrap="square" rtlCol="0" anchor="ctr"/>
          <a:lstStyle/>
          <a:p>
            <a:pPr marL="0" indent="0">
              <a:buNone/>
            </a:pPr>
            <a:r>
              <a:rPr lang="en-US" sz="1100" b="1" dirty="0">
                <a:solidFill>
                  <a:srgbClr val="1A2E5A"/>
                </a:solidFill>
                <a:latin typeface="Calibri" pitchFamily="34" charset="0"/>
                <a:ea typeface="Calibri" pitchFamily="34" charset="-122"/>
                <a:cs typeface="Calibri" pitchFamily="34" charset="-120"/>
              </a:rPr>
              <a:t>depto_actual</a:t>
            </a:r>
            <a:endParaRPr lang="en-US" sz="1100" dirty="0"/>
          </a:p>
        </p:txBody>
      </p:sp>
      <p:sp>
        <p:nvSpPr>
          <p:cNvPr id="20" name="Text 17"/>
          <p:cNvSpPr/>
          <p:nvPr/>
        </p:nvSpPr>
        <p:spPr>
          <a:xfrm>
            <a:off x="4983480" y="4370832"/>
            <a:ext cx="3657600" cy="54864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La dispersión confirma que la geografía es un factor importante y heterogéneo entre individuos.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2E5A"/>
          </a:solidFill>
          <a:ln w="12700">
            <a:solidFill>
              <a:srgbClr val="1A2E5A"/>
            </a:solidFill>
            <a:prstDash val="solid"/>
          </a:ln>
        </p:spPr>
        <p:txBody>
          <a:bodyPr/>
          <a:lstStyle/>
          <a:p>
            <a:endParaRPr lang="es-CO"/>
          </a:p>
        </p:txBody>
      </p:sp>
      <p:sp>
        <p:nvSpPr>
          <p:cNvPr id="3" name="Shape 1"/>
          <p:cNvSpPr/>
          <p:nvPr/>
        </p:nvSpPr>
        <p:spPr>
          <a:xfrm>
            <a:off x="0" y="0"/>
            <a:ext cx="365760" cy="713232"/>
          </a:xfrm>
          <a:prstGeom prst="rect">
            <a:avLst/>
          </a:prstGeom>
          <a:solidFill>
            <a:srgbClr val="E8A020"/>
          </a:solidFill>
          <a:ln w="12700">
            <a:solidFill>
              <a:srgbClr val="E8A020"/>
            </a:solidFill>
            <a:prstDash val="solid"/>
          </a:ln>
        </p:spPr>
        <p:txBody>
          <a:bodyPr/>
          <a:lstStyle/>
          <a:p>
            <a:endParaRPr lang="es-CO"/>
          </a:p>
        </p:txBody>
      </p:sp>
      <p:sp>
        <p:nvSpPr>
          <p:cNvPr id="4" name="Text 2"/>
          <p:cNvSpPr/>
          <p:nvPr/>
        </p:nvSpPr>
        <p:spPr>
          <a:xfrm>
            <a:off x="502920" y="0"/>
            <a:ext cx="8412480" cy="713232"/>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10C. SHAP — Importancia Media (Bar Plot)</a:t>
            </a:r>
            <a:endParaRPr lang="en-US" sz="2200" dirty="0"/>
          </a:p>
        </p:txBody>
      </p:sp>
      <p:sp>
        <p:nvSpPr>
          <p:cNvPr id="5" name="Text 3"/>
          <p:cNvSpPr/>
          <p:nvPr/>
        </p:nvSpPr>
        <p:spPr>
          <a:xfrm>
            <a:off x="365760" y="676656"/>
            <a:ext cx="8412480" cy="256032"/>
          </a:xfrm>
          <a:prstGeom prst="rect">
            <a:avLst/>
          </a:prstGeom>
          <a:noFill/>
          <a:ln/>
        </p:spPr>
        <p:txBody>
          <a:bodyPr wrap="square" rtlCol="0" anchor="ctr"/>
          <a:lstStyle/>
          <a:p>
            <a:pPr marL="0" indent="0">
              <a:buNone/>
            </a:pPr>
            <a:r>
              <a:rPr lang="en-US" sz="1300" b="1" dirty="0">
                <a:solidFill>
                  <a:srgbClr val="0D6E8A"/>
                </a:solidFill>
                <a:latin typeface="Calibri" pitchFamily="34" charset="0"/>
                <a:ea typeface="Calibri" pitchFamily="34" charset="-122"/>
                <a:cs typeface="Calibri" pitchFamily="34" charset="-120"/>
              </a:rPr>
              <a:t>¿Qué se hizo?</a:t>
            </a:r>
            <a:endParaRPr lang="en-US" sz="1300" dirty="0"/>
          </a:p>
        </p:txBody>
      </p:sp>
      <p:sp>
        <p:nvSpPr>
          <p:cNvPr id="6" name="Text 4"/>
          <p:cNvSpPr/>
          <p:nvPr/>
        </p:nvSpPr>
        <p:spPr>
          <a:xfrm>
            <a:off x="365760" y="905256"/>
            <a:ext cx="8412480" cy="41148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El SHAP Bar Plot resume el Beeswarm mostrando el impacto promedio absoluto de cada variable. Es más robusto que las importancias nativas porque SHAP pondera la contribución de cada variable controlando por las demás.</a:t>
            </a:r>
            <a:endParaRPr lang="en-US" sz="1100" dirty="0"/>
          </a:p>
        </p:txBody>
      </p:sp>
      <p:pic>
        <p:nvPicPr>
          <p:cNvPr id="7" name="Image 0" descr="preencoded.png"/>
          <p:cNvPicPr>
            <a:picLocks noChangeAspect="1"/>
          </p:cNvPicPr>
          <p:nvPr/>
        </p:nvPicPr>
        <p:blipFill>
          <a:blip r:embed="rId3"/>
          <a:stretch>
            <a:fillRect/>
          </a:stretch>
        </p:blipFill>
        <p:spPr>
          <a:xfrm>
            <a:off x="365760" y="1344168"/>
            <a:ext cx="5074920" cy="3675888"/>
          </a:xfrm>
          <a:prstGeom prst="rect">
            <a:avLst/>
          </a:prstGeom>
        </p:spPr>
      </p:pic>
      <p:sp>
        <p:nvSpPr>
          <p:cNvPr id="8" name="Text 5"/>
          <p:cNvSpPr/>
          <p:nvPr/>
        </p:nvSpPr>
        <p:spPr>
          <a:xfrm>
            <a:off x="-1321594" y="4948333"/>
            <a:ext cx="6980872" cy="242316"/>
          </a:xfrm>
          <a:prstGeom prst="rect">
            <a:avLst/>
          </a:prstGeom>
          <a:noFill/>
          <a:ln/>
        </p:spPr>
        <p:txBody>
          <a:bodyPr wrap="square" rtlCol="0" anchor="ctr"/>
          <a:lstStyle/>
          <a:p>
            <a:pPr marL="0" indent="0" algn="ctr">
              <a:buNone/>
            </a:pPr>
            <a:r>
              <a:rPr lang="en-US" sz="600" i="1" dirty="0">
                <a:solidFill>
                  <a:srgbClr val="718096"/>
                </a:solidFill>
                <a:latin typeface="Calibri" pitchFamily="34" charset="0"/>
                <a:ea typeface="Calibri" pitchFamily="34" charset="-122"/>
                <a:cs typeface="Calibri" pitchFamily="34" charset="-120"/>
              </a:rPr>
              <a:t>Gráfica 5. SHAP Bar Plot — importancia media |SHAP| por variable. Más robusto ante correlaciones entre variables</a:t>
            </a:r>
            <a:r>
              <a:rPr lang="en-US" sz="900" i="1" dirty="0">
                <a:solidFill>
                  <a:srgbClr val="718096"/>
                </a:solidFill>
                <a:latin typeface="Calibri" pitchFamily="34" charset="0"/>
                <a:ea typeface="Calibri" pitchFamily="34" charset="-122"/>
                <a:cs typeface="Calibri" pitchFamily="34" charset="-120"/>
              </a:rPr>
              <a:t>.</a:t>
            </a:r>
            <a:endParaRPr lang="en-US" sz="900" dirty="0"/>
          </a:p>
        </p:txBody>
      </p:sp>
      <p:sp>
        <p:nvSpPr>
          <p:cNvPr id="9" name="Text 6"/>
          <p:cNvSpPr/>
          <p:nvPr/>
        </p:nvSpPr>
        <p:spPr>
          <a:xfrm>
            <a:off x="274320" y="4800600"/>
            <a:ext cx="8595360" cy="347472"/>
          </a:xfrm>
          <a:prstGeom prst="rect">
            <a:avLst/>
          </a:prstGeom>
          <a:noFill/>
          <a:ln/>
        </p:spPr>
        <p:txBody>
          <a:bodyPr wrap="square" rtlCol="0" anchor="ctr"/>
          <a:lstStyle/>
          <a:p>
            <a:pPr marL="0" indent="0">
              <a:buNone/>
            </a:pPr>
            <a:endParaRPr lang="en-US" sz="950" dirty="0"/>
          </a:p>
        </p:txBody>
      </p:sp>
      <p:sp>
        <p:nvSpPr>
          <p:cNvPr id="11" name="CuadroTexto 10">
            <a:extLst>
              <a:ext uri="{FF2B5EF4-FFF2-40B4-BE49-F238E27FC236}">
                <a16:creationId xmlns:a16="http://schemas.microsoft.com/office/drawing/2014/main" id="{4C60FED7-7FCB-FB3A-CED3-BAF7F6EA016F}"/>
              </a:ext>
            </a:extLst>
          </p:cNvPr>
          <p:cNvSpPr txBox="1"/>
          <p:nvPr/>
        </p:nvSpPr>
        <p:spPr>
          <a:xfrm>
            <a:off x="5532120" y="2581947"/>
            <a:ext cx="3511153" cy="1200329"/>
          </a:xfrm>
          <a:prstGeom prst="rect">
            <a:avLst/>
          </a:prstGeom>
          <a:noFill/>
        </p:spPr>
        <p:txBody>
          <a:bodyPr wrap="square">
            <a:spAutoFit/>
          </a:bodyPr>
          <a:lstStyle/>
          <a:p>
            <a:pPr marL="0" indent="0">
              <a:buNone/>
            </a:pPr>
            <a:r>
              <a:rPr lang="en-US" sz="1200" i="1" dirty="0">
                <a:solidFill>
                  <a:srgbClr val="718096"/>
                </a:solidFill>
                <a:latin typeface="Calibri" pitchFamily="34" charset="0"/>
                <a:ea typeface="Calibri" pitchFamily="34" charset="-122"/>
                <a:cs typeface="Calibri" pitchFamily="34" charset="-120"/>
              </a:rPr>
              <a:t>Lectura: El </a:t>
            </a:r>
            <a:r>
              <a:rPr lang="en-US" sz="1200" i="1" dirty="0" err="1">
                <a:solidFill>
                  <a:srgbClr val="718096"/>
                </a:solidFill>
                <a:latin typeface="Calibri" pitchFamily="34" charset="0"/>
                <a:ea typeface="Calibri" pitchFamily="34" charset="-122"/>
                <a:cs typeface="Calibri" pitchFamily="34" charset="-120"/>
              </a:rPr>
              <a:t>orden</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puede</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diferir</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levemente</a:t>
            </a:r>
            <a:r>
              <a:rPr lang="en-US" sz="1200" i="1" dirty="0">
                <a:solidFill>
                  <a:srgbClr val="718096"/>
                </a:solidFill>
                <a:latin typeface="Calibri" pitchFamily="34" charset="0"/>
                <a:ea typeface="Calibri" pitchFamily="34" charset="-122"/>
                <a:cs typeface="Calibri" pitchFamily="34" charset="-120"/>
              </a:rPr>
              <a:t> de las </a:t>
            </a:r>
            <a:r>
              <a:rPr lang="en-US" sz="1200" i="1" dirty="0" err="1">
                <a:solidFill>
                  <a:srgbClr val="718096"/>
                </a:solidFill>
                <a:latin typeface="Calibri" pitchFamily="34" charset="0"/>
                <a:ea typeface="Calibri" pitchFamily="34" charset="-122"/>
                <a:cs typeface="Calibri" pitchFamily="34" charset="-120"/>
              </a:rPr>
              <a:t>importancias</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nativas</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revelando</a:t>
            </a:r>
            <a:r>
              <a:rPr lang="en-US" sz="1200" i="1" dirty="0">
                <a:solidFill>
                  <a:srgbClr val="718096"/>
                </a:solidFill>
                <a:latin typeface="Calibri" pitchFamily="34" charset="0"/>
                <a:ea typeface="Calibri" pitchFamily="34" charset="-122"/>
                <a:cs typeface="Calibri" pitchFamily="34" charset="-120"/>
              </a:rPr>
              <a:t> variables </a:t>
            </a:r>
            <a:r>
              <a:rPr lang="en-US" sz="1200" i="1" dirty="0" err="1">
                <a:solidFill>
                  <a:srgbClr val="718096"/>
                </a:solidFill>
                <a:latin typeface="Calibri" pitchFamily="34" charset="0"/>
                <a:ea typeface="Calibri" pitchFamily="34" charset="-122"/>
                <a:cs typeface="Calibri" pitchFamily="34" charset="-120"/>
              </a:rPr>
              <a:t>cuya</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importancia</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estaba</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inflada</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por</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correlaciones</a:t>
            </a:r>
            <a:r>
              <a:rPr lang="en-US" sz="1200" i="1" dirty="0">
                <a:solidFill>
                  <a:srgbClr val="718096"/>
                </a:solidFill>
                <a:latin typeface="Calibri" pitchFamily="34" charset="0"/>
                <a:ea typeface="Calibri" pitchFamily="34" charset="-122"/>
                <a:cs typeface="Calibri" pitchFamily="34" charset="-120"/>
              </a:rPr>
              <a:t>. Las variables </a:t>
            </a:r>
            <a:r>
              <a:rPr lang="en-US" sz="1200" i="1" dirty="0" err="1">
                <a:solidFill>
                  <a:srgbClr val="718096"/>
                </a:solidFill>
                <a:latin typeface="Calibri" pitchFamily="34" charset="0"/>
                <a:ea typeface="Calibri" pitchFamily="34" charset="-122"/>
                <a:cs typeface="Calibri" pitchFamily="34" charset="-120"/>
              </a:rPr>
              <a:t>que</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aparecen</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consistentemente</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altas</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en</a:t>
            </a:r>
            <a:r>
              <a:rPr lang="en-US" sz="1200" i="1" dirty="0">
                <a:solidFill>
                  <a:srgbClr val="718096"/>
                </a:solidFill>
                <a:latin typeface="Calibri" pitchFamily="34" charset="0"/>
                <a:ea typeface="Calibri" pitchFamily="34" charset="-122"/>
                <a:cs typeface="Calibri" pitchFamily="34" charset="-120"/>
              </a:rPr>
              <a:t> ambos </a:t>
            </a:r>
            <a:r>
              <a:rPr lang="en-US" sz="1200" i="1" dirty="0" err="1">
                <a:solidFill>
                  <a:srgbClr val="718096"/>
                </a:solidFill>
                <a:latin typeface="Calibri" pitchFamily="34" charset="0"/>
                <a:ea typeface="Calibri" pitchFamily="34" charset="-122"/>
                <a:cs typeface="Calibri" pitchFamily="34" charset="-120"/>
              </a:rPr>
              <a:t>métodos</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nativo</a:t>
            </a:r>
            <a:r>
              <a:rPr lang="en-US" sz="1200" i="1" dirty="0">
                <a:solidFill>
                  <a:srgbClr val="718096"/>
                </a:solidFill>
                <a:latin typeface="Calibri" pitchFamily="34" charset="0"/>
                <a:ea typeface="Calibri" pitchFamily="34" charset="-122"/>
                <a:cs typeface="Calibri" pitchFamily="34" charset="-120"/>
              </a:rPr>
              <a:t> y SHAP) son </a:t>
            </a:r>
            <a:r>
              <a:rPr lang="en-US" sz="1200" i="1" dirty="0" err="1">
                <a:solidFill>
                  <a:srgbClr val="718096"/>
                </a:solidFill>
                <a:latin typeface="Calibri" pitchFamily="34" charset="0"/>
                <a:ea typeface="Calibri" pitchFamily="34" charset="-122"/>
                <a:cs typeface="Calibri" pitchFamily="34" charset="-120"/>
              </a:rPr>
              <a:t>genuinamente</a:t>
            </a:r>
            <a:r>
              <a:rPr lang="en-US" sz="1200" i="1" dirty="0">
                <a:solidFill>
                  <a:srgbClr val="718096"/>
                </a:solidFill>
                <a:latin typeface="Calibri" pitchFamily="34" charset="0"/>
                <a:ea typeface="Calibri" pitchFamily="34" charset="-122"/>
                <a:cs typeface="Calibri" pitchFamily="34" charset="-120"/>
              </a:rPr>
              <a:t> </a:t>
            </a:r>
            <a:r>
              <a:rPr lang="en-US" sz="1200" i="1" dirty="0" err="1">
                <a:solidFill>
                  <a:srgbClr val="718096"/>
                </a:solidFill>
                <a:latin typeface="Calibri" pitchFamily="34" charset="0"/>
                <a:ea typeface="Calibri" pitchFamily="34" charset="-122"/>
                <a:cs typeface="Calibri" pitchFamily="34" charset="-120"/>
              </a:rPr>
              <a:t>predictivas</a:t>
            </a:r>
            <a:r>
              <a:rPr lang="en-US" sz="1200" i="1" dirty="0">
                <a:solidFill>
                  <a:srgbClr val="718096"/>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a:extLst>
            <a:ext uri="{FF2B5EF4-FFF2-40B4-BE49-F238E27FC236}">
              <a16:creationId xmlns:a16="http://schemas.microsoft.com/office/drawing/2014/main" id="{3A30AFF2-381C-3253-AFE5-1479AF780EB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5AD90E7-687D-A028-161F-A5A589569381}"/>
              </a:ext>
            </a:extLst>
          </p:cNvPr>
          <p:cNvSpPr/>
          <p:nvPr/>
        </p:nvSpPr>
        <p:spPr>
          <a:xfrm>
            <a:off x="0" y="0"/>
            <a:ext cx="9144000" cy="713232"/>
          </a:xfrm>
          <a:prstGeom prst="rect">
            <a:avLst/>
          </a:prstGeom>
          <a:solidFill>
            <a:srgbClr val="1A2E5A"/>
          </a:solidFill>
          <a:ln w="12700">
            <a:solidFill>
              <a:srgbClr val="1A2E5A"/>
            </a:solidFill>
            <a:prstDash val="solid"/>
          </a:ln>
        </p:spPr>
        <p:txBody>
          <a:bodyPr/>
          <a:lstStyle/>
          <a:p>
            <a:endParaRPr lang="es-CO"/>
          </a:p>
        </p:txBody>
      </p:sp>
      <p:sp>
        <p:nvSpPr>
          <p:cNvPr id="3" name="Shape 1">
            <a:extLst>
              <a:ext uri="{FF2B5EF4-FFF2-40B4-BE49-F238E27FC236}">
                <a16:creationId xmlns:a16="http://schemas.microsoft.com/office/drawing/2014/main" id="{7D9FA50A-2903-CF20-AFFB-7475FA7C7928}"/>
              </a:ext>
            </a:extLst>
          </p:cNvPr>
          <p:cNvSpPr/>
          <p:nvPr/>
        </p:nvSpPr>
        <p:spPr>
          <a:xfrm>
            <a:off x="0" y="0"/>
            <a:ext cx="365760" cy="713232"/>
          </a:xfrm>
          <a:prstGeom prst="rect">
            <a:avLst/>
          </a:prstGeom>
          <a:solidFill>
            <a:srgbClr val="E8A020"/>
          </a:solidFill>
          <a:ln w="12700">
            <a:solidFill>
              <a:srgbClr val="E8A020"/>
            </a:solidFill>
            <a:prstDash val="solid"/>
          </a:ln>
        </p:spPr>
        <p:txBody>
          <a:bodyPr/>
          <a:lstStyle/>
          <a:p>
            <a:endParaRPr lang="es-CO"/>
          </a:p>
        </p:txBody>
      </p:sp>
      <p:sp>
        <p:nvSpPr>
          <p:cNvPr id="4" name="Text 2">
            <a:extLst>
              <a:ext uri="{FF2B5EF4-FFF2-40B4-BE49-F238E27FC236}">
                <a16:creationId xmlns:a16="http://schemas.microsoft.com/office/drawing/2014/main" id="{DAAF21A6-F518-E8D8-3E92-0CAAECB976DD}"/>
              </a:ext>
            </a:extLst>
          </p:cNvPr>
          <p:cNvSpPr/>
          <p:nvPr/>
        </p:nvSpPr>
        <p:spPr>
          <a:xfrm>
            <a:off x="502920" y="0"/>
            <a:ext cx="8412480" cy="713232"/>
          </a:xfrm>
          <a:prstGeom prst="rect">
            <a:avLst/>
          </a:prstGeom>
          <a:noFill/>
          <a:ln/>
        </p:spPr>
        <p:txBody>
          <a:bodyPr wrap="square" rtlCol="0" anchor="ctr"/>
          <a:lstStyle/>
          <a:p>
            <a:r>
              <a:rPr lang="en-US" b="1" dirty="0">
                <a:solidFill>
                  <a:srgbClr val="FFFFFF"/>
                </a:solidFill>
                <a:latin typeface="Calibri" pitchFamily="34" charset="0"/>
                <a:ea typeface="Calibri" pitchFamily="34" charset="-122"/>
                <a:cs typeface="Calibri" pitchFamily="34" charset="-120"/>
              </a:rPr>
              <a:t>11. Clustering k-prototypes:  </a:t>
            </a:r>
            <a:r>
              <a:rPr lang="en-US" b="1" dirty="0" err="1">
                <a:solidFill>
                  <a:srgbClr val="FFFFFF"/>
                </a:solidFill>
                <a:latin typeface="Calibri" pitchFamily="34" charset="0"/>
                <a:ea typeface="Calibri" pitchFamily="34" charset="-122"/>
                <a:cs typeface="Calibri" pitchFamily="34" charset="-120"/>
              </a:rPr>
              <a:t>perfiles</a:t>
            </a:r>
            <a:r>
              <a:rPr lang="en-US" b="1" dirty="0">
                <a:solidFill>
                  <a:srgbClr val="FFFFFF"/>
                </a:solidFill>
                <a:latin typeface="Calibri" pitchFamily="34" charset="0"/>
                <a:ea typeface="Calibri" pitchFamily="34" charset="-122"/>
                <a:cs typeface="Calibri" pitchFamily="34" charset="-120"/>
              </a:rPr>
              <a:t> de </a:t>
            </a:r>
            <a:r>
              <a:rPr lang="en-US" b="1" dirty="0" err="1">
                <a:solidFill>
                  <a:srgbClr val="FFFFFF"/>
                </a:solidFill>
                <a:latin typeface="Calibri" pitchFamily="34" charset="0"/>
                <a:ea typeface="Calibri" pitchFamily="34" charset="-122"/>
                <a:cs typeface="Calibri" pitchFamily="34" charset="-120"/>
              </a:rPr>
              <a:t>migrantes</a:t>
            </a:r>
            <a:r>
              <a:rPr lang="en-US" b="1" dirty="0">
                <a:solidFill>
                  <a:srgbClr val="FFFFFF"/>
                </a:solidFill>
                <a:latin typeface="Calibri" pitchFamily="34" charset="0"/>
                <a:ea typeface="Calibri" pitchFamily="34" charset="-122"/>
                <a:cs typeface="Calibri" pitchFamily="34" charset="-120"/>
              </a:rPr>
              <a:t> con </a:t>
            </a:r>
            <a:r>
              <a:rPr lang="en-US" b="1" dirty="0" err="1">
                <a:solidFill>
                  <a:srgbClr val="FFFFFF"/>
                </a:solidFill>
                <a:latin typeface="Calibri" pitchFamily="34" charset="0"/>
                <a:ea typeface="Calibri" pitchFamily="34" charset="-122"/>
                <a:cs typeface="Calibri" pitchFamily="34" charset="-120"/>
              </a:rPr>
              <a:t>destino</a:t>
            </a:r>
            <a:r>
              <a:rPr lang="en-US" b="1" dirty="0">
                <a:solidFill>
                  <a:srgbClr val="FFFFFF"/>
                </a:solidFill>
                <a:latin typeface="Calibri" pitchFamily="34" charset="0"/>
                <a:ea typeface="Calibri" pitchFamily="34" charset="-122"/>
                <a:cs typeface="Calibri" pitchFamily="34" charset="-120"/>
              </a:rPr>
              <a:t>	</a:t>
            </a:r>
            <a:endParaRPr lang="en-US" dirty="0"/>
          </a:p>
        </p:txBody>
      </p:sp>
      <p:sp>
        <p:nvSpPr>
          <p:cNvPr id="14" name="Text 12">
            <a:extLst>
              <a:ext uri="{FF2B5EF4-FFF2-40B4-BE49-F238E27FC236}">
                <a16:creationId xmlns:a16="http://schemas.microsoft.com/office/drawing/2014/main" id="{7CD2EA6C-602F-9D67-BBE2-A63EF30BCF95}"/>
              </a:ext>
            </a:extLst>
          </p:cNvPr>
          <p:cNvSpPr/>
          <p:nvPr/>
        </p:nvSpPr>
        <p:spPr>
          <a:xfrm>
            <a:off x="6071616" y="1783080"/>
            <a:ext cx="2697480" cy="457200"/>
          </a:xfrm>
          <a:prstGeom prst="rect">
            <a:avLst/>
          </a:prstGeom>
          <a:noFill/>
          <a:ln/>
        </p:spPr>
        <p:txBody>
          <a:bodyPr wrap="square" rtlCol="0" anchor="ctr"/>
          <a:lstStyle/>
          <a:p>
            <a:pPr marL="0" indent="0" algn="ctr">
              <a:buNone/>
            </a:pPr>
            <a:endParaRPr lang="en-US" sz="2200" dirty="0"/>
          </a:p>
        </p:txBody>
      </p:sp>
      <p:sp>
        <p:nvSpPr>
          <p:cNvPr id="15" name="Text 13">
            <a:extLst>
              <a:ext uri="{FF2B5EF4-FFF2-40B4-BE49-F238E27FC236}">
                <a16:creationId xmlns:a16="http://schemas.microsoft.com/office/drawing/2014/main" id="{F9647AFA-5992-2AEA-32CF-A0967E7D737E}"/>
              </a:ext>
            </a:extLst>
          </p:cNvPr>
          <p:cNvSpPr/>
          <p:nvPr/>
        </p:nvSpPr>
        <p:spPr>
          <a:xfrm>
            <a:off x="6071616" y="2240280"/>
            <a:ext cx="2697480" cy="347472"/>
          </a:xfrm>
          <a:prstGeom prst="rect">
            <a:avLst/>
          </a:prstGeom>
          <a:noFill/>
          <a:ln/>
        </p:spPr>
        <p:txBody>
          <a:bodyPr wrap="square" rtlCol="0" anchor="ctr"/>
          <a:lstStyle/>
          <a:p>
            <a:pPr marL="0" indent="0" algn="ctr">
              <a:buNone/>
            </a:pPr>
            <a:endParaRPr lang="en-US" sz="950" dirty="0"/>
          </a:p>
        </p:txBody>
      </p:sp>
      <p:sp>
        <p:nvSpPr>
          <p:cNvPr id="17" name="Text 15">
            <a:extLst>
              <a:ext uri="{FF2B5EF4-FFF2-40B4-BE49-F238E27FC236}">
                <a16:creationId xmlns:a16="http://schemas.microsoft.com/office/drawing/2014/main" id="{6474B3E8-8439-E5A0-8463-6041C1FBE129}"/>
              </a:ext>
            </a:extLst>
          </p:cNvPr>
          <p:cNvSpPr/>
          <p:nvPr/>
        </p:nvSpPr>
        <p:spPr>
          <a:xfrm>
            <a:off x="356616" y="3089564"/>
            <a:ext cx="8412480" cy="1234440"/>
          </a:xfrm>
          <a:prstGeom prst="rect">
            <a:avLst/>
          </a:prstGeom>
          <a:noFill/>
          <a:ln/>
        </p:spPr>
        <p:txBody>
          <a:bodyPr wrap="square" rtlCol="0" anchor="ctr"/>
          <a:lstStyle/>
          <a:p>
            <a:pPr marL="0" indent="0">
              <a:buNone/>
            </a:pPr>
            <a:endParaRPr lang="en-US" sz="1100" dirty="0"/>
          </a:p>
        </p:txBody>
      </p:sp>
      <p:pic>
        <p:nvPicPr>
          <p:cNvPr id="2050" name="Picture 2">
            <a:extLst>
              <a:ext uri="{FF2B5EF4-FFF2-40B4-BE49-F238E27FC236}">
                <a16:creationId xmlns:a16="http://schemas.microsoft.com/office/drawing/2014/main" id="{032EEF42-0F6A-55AD-BDE0-92DE33DB0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9939" y="713232"/>
            <a:ext cx="6404122" cy="4309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4160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a:extLst>
            <a:ext uri="{FF2B5EF4-FFF2-40B4-BE49-F238E27FC236}">
              <a16:creationId xmlns:a16="http://schemas.microsoft.com/office/drawing/2014/main" id="{3480EDBD-7A43-18C0-D94F-2FF2D01503A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F49DC9C-5AAF-4B88-051F-961F7652EA95}"/>
              </a:ext>
            </a:extLst>
          </p:cNvPr>
          <p:cNvSpPr/>
          <p:nvPr/>
        </p:nvSpPr>
        <p:spPr>
          <a:xfrm>
            <a:off x="0" y="0"/>
            <a:ext cx="9144000" cy="713232"/>
          </a:xfrm>
          <a:prstGeom prst="rect">
            <a:avLst/>
          </a:prstGeom>
          <a:solidFill>
            <a:srgbClr val="1A2E5A"/>
          </a:solidFill>
          <a:ln w="12700">
            <a:solidFill>
              <a:srgbClr val="1A2E5A"/>
            </a:solidFill>
            <a:prstDash val="solid"/>
          </a:ln>
        </p:spPr>
        <p:txBody>
          <a:bodyPr/>
          <a:lstStyle/>
          <a:p>
            <a:endParaRPr lang="es-CO"/>
          </a:p>
        </p:txBody>
      </p:sp>
      <p:sp>
        <p:nvSpPr>
          <p:cNvPr id="3" name="Shape 1">
            <a:extLst>
              <a:ext uri="{FF2B5EF4-FFF2-40B4-BE49-F238E27FC236}">
                <a16:creationId xmlns:a16="http://schemas.microsoft.com/office/drawing/2014/main" id="{225A042E-2D8A-846F-7C43-5B6BE19CFA4B}"/>
              </a:ext>
            </a:extLst>
          </p:cNvPr>
          <p:cNvSpPr/>
          <p:nvPr/>
        </p:nvSpPr>
        <p:spPr>
          <a:xfrm>
            <a:off x="0" y="0"/>
            <a:ext cx="365760" cy="713232"/>
          </a:xfrm>
          <a:prstGeom prst="rect">
            <a:avLst/>
          </a:prstGeom>
          <a:solidFill>
            <a:srgbClr val="E8A020"/>
          </a:solidFill>
          <a:ln w="12700">
            <a:solidFill>
              <a:srgbClr val="E8A020"/>
            </a:solidFill>
            <a:prstDash val="solid"/>
          </a:ln>
        </p:spPr>
        <p:txBody>
          <a:bodyPr/>
          <a:lstStyle/>
          <a:p>
            <a:endParaRPr lang="es-CO"/>
          </a:p>
        </p:txBody>
      </p:sp>
      <p:sp>
        <p:nvSpPr>
          <p:cNvPr id="4" name="Text 2">
            <a:extLst>
              <a:ext uri="{FF2B5EF4-FFF2-40B4-BE49-F238E27FC236}">
                <a16:creationId xmlns:a16="http://schemas.microsoft.com/office/drawing/2014/main" id="{419BF6BA-53B8-94CE-14EB-C487C403CB47}"/>
              </a:ext>
            </a:extLst>
          </p:cNvPr>
          <p:cNvSpPr/>
          <p:nvPr/>
        </p:nvSpPr>
        <p:spPr>
          <a:xfrm>
            <a:off x="502920" y="0"/>
            <a:ext cx="8412480" cy="713232"/>
          </a:xfrm>
          <a:prstGeom prst="rect">
            <a:avLst/>
          </a:prstGeom>
          <a:noFill/>
          <a:ln/>
        </p:spPr>
        <p:txBody>
          <a:bodyPr wrap="square" rtlCol="0" anchor="ctr"/>
          <a:lstStyle/>
          <a:p>
            <a:r>
              <a:rPr lang="en-US" b="1" dirty="0">
                <a:solidFill>
                  <a:srgbClr val="FFFFFF"/>
                </a:solidFill>
                <a:latin typeface="Calibri" pitchFamily="34" charset="0"/>
                <a:ea typeface="Calibri" pitchFamily="34" charset="-122"/>
                <a:cs typeface="Calibri" pitchFamily="34" charset="-120"/>
              </a:rPr>
              <a:t>11. Clustering k-prototypes:  </a:t>
            </a:r>
            <a:r>
              <a:rPr lang="en-US" b="1" dirty="0" err="1">
                <a:solidFill>
                  <a:srgbClr val="FFFFFF"/>
                </a:solidFill>
                <a:latin typeface="Calibri" pitchFamily="34" charset="0"/>
                <a:ea typeface="Calibri" pitchFamily="34" charset="-122"/>
                <a:cs typeface="Calibri" pitchFamily="34" charset="-120"/>
              </a:rPr>
              <a:t>Perfiles</a:t>
            </a:r>
            <a:r>
              <a:rPr lang="en-US" b="1" dirty="0">
                <a:solidFill>
                  <a:srgbClr val="FFFFFF"/>
                </a:solidFill>
                <a:latin typeface="Calibri" pitchFamily="34" charset="0"/>
                <a:ea typeface="Calibri" pitchFamily="34" charset="-122"/>
                <a:cs typeface="Calibri" pitchFamily="34" charset="-120"/>
              </a:rPr>
              <a:t> de </a:t>
            </a:r>
            <a:r>
              <a:rPr lang="en-US" b="1" dirty="0" err="1">
                <a:solidFill>
                  <a:srgbClr val="FFFFFF"/>
                </a:solidFill>
                <a:latin typeface="Calibri" pitchFamily="34" charset="0"/>
                <a:ea typeface="Calibri" pitchFamily="34" charset="-122"/>
                <a:cs typeface="Calibri" pitchFamily="34" charset="-120"/>
              </a:rPr>
              <a:t>migrantes</a:t>
            </a:r>
            <a:r>
              <a:rPr lang="en-US" b="1" dirty="0">
                <a:solidFill>
                  <a:srgbClr val="FFFFFF"/>
                </a:solidFill>
                <a:latin typeface="Calibri" pitchFamily="34" charset="0"/>
                <a:ea typeface="Calibri" pitchFamily="34" charset="-122"/>
                <a:cs typeface="Calibri" pitchFamily="34" charset="-120"/>
              </a:rPr>
              <a:t> con </a:t>
            </a:r>
            <a:r>
              <a:rPr lang="en-US" b="1" dirty="0" err="1">
                <a:solidFill>
                  <a:srgbClr val="FFFFFF"/>
                </a:solidFill>
                <a:latin typeface="Calibri" pitchFamily="34" charset="0"/>
                <a:ea typeface="Calibri" pitchFamily="34" charset="-122"/>
                <a:cs typeface="Calibri" pitchFamily="34" charset="-120"/>
              </a:rPr>
              <a:t>destino</a:t>
            </a:r>
            <a:r>
              <a:rPr lang="en-US" b="1" dirty="0">
                <a:solidFill>
                  <a:srgbClr val="FFFFFF"/>
                </a:solidFill>
                <a:latin typeface="Calibri" pitchFamily="34" charset="0"/>
                <a:ea typeface="Calibri" pitchFamily="34" charset="-122"/>
                <a:cs typeface="Calibri" pitchFamily="34" charset="-120"/>
              </a:rPr>
              <a:t>	</a:t>
            </a:r>
            <a:endParaRPr lang="en-US" dirty="0"/>
          </a:p>
        </p:txBody>
      </p:sp>
      <p:sp>
        <p:nvSpPr>
          <p:cNvPr id="14" name="Text 12">
            <a:extLst>
              <a:ext uri="{FF2B5EF4-FFF2-40B4-BE49-F238E27FC236}">
                <a16:creationId xmlns:a16="http://schemas.microsoft.com/office/drawing/2014/main" id="{28759ABE-0028-8E2D-B342-C814F40A00F6}"/>
              </a:ext>
            </a:extLst>
          </p:cNvPr>
          <p:cNvSpPr/>
          <p:nvPr/>
        </p:nvSpPr>
        <p:spPr>
          <a:xfrm>
            <a:off x="6071616" y="1783080"/>
            <a:ext cx="2697480" cy="457200"/>
          </a:xfrm>
          <a:prstGeom prst="rect">
            <a:avLst/>
          </a:prstGeom>
          <a:noFill/>
          <a:ln/>
        </p:spPr>
        <p:txBody>
          <a:bodyPr wrap="square" rtlCol="0" anchor="ctr"/>
          <a:lstStyle/>
          <a:p>
            <a:pPr marL="0" indent="0" algn="ctr">
              <a:buNone/>
            </a:pPr>
            <a:endParaRPr lang="en-US" sz="2200" dirty="0"/>
          </a:p>
        </p:txBody>
      </p:sp>
      <p:sp>
        <p:nvSpPr>
          <p:cNvPr id="15" name="Text 13">
            <a:extLst>
              <a:ext uri="{FF2B5EF4-FFF2-40B4-BE49-F238E27FC236}">
                <a16:creationId xmlns:a16="http://schemas.microsoft.com/office/drawing/2014/main" id="{1B84F4F4-11A9-CB34-5670-2DD31F9839E1}"/>
              </a:ext>
            </a:extLst>
          </p:cNvPr>
          <p:cNvSpPr/>
          <p:nvPr/>
        </p:nvSpPr>
        <p:spPr>
          <a:xfrm>
            <a:off x="6071616" y="2240280"/>
            <a:ext cx="2697480" cy="347472"/>
          </a:xfrm>
          <a:prstGeom prst="rect">
            <a:avLst/>
          </a:prstGeom>
          <a:noFill/>
          <a:ln/>
        </p:spPr>
        <p:txBody>
          <a:bodyPr wrap="square" rtlCol="0" anchor="ctr"/>
          <a:lstStyle/>
          <a:p>
            <a:pPr marL="0" indent="0" algn="ctr">
              <a:buNone/>
            </a:pPr>
            <a:endParaRPr lang="en-US" sz="950" dirty="0"/>
          </a:p>
        </p:txBody>
      </p:sp>
      <p:sp>
        <p:nvSpPr>
          <p:cNvPr id="17" name="Text 15">
            <a:extLst>
              <a:ext uri="{FF2B5EF4-FFF2-40B4-BE49-F238E27FC236}">
                <a16:creationId xmlns:a16="http://schemas.microsoft.com/office/drawing/2014/main" id="{ACAC3D41-959A-E5A3-72CA-BE0ADAE745FE}"/>
              </a:ext>
            </a:extLst>
          </p:cNvPr>
          <p:cNvSpPr/>
          <p:nvPr/>
        </p:nvSpPr>
        <p:spPr>
          <a:xfrm>
            <a:off x="356616" y="3089564"/>
            <a:ext cx="8412480" cy="1234440"/>
          </a:xfrm>
          <a:prstGeom prst="rect">
            <a:avLst/>
          </a:prstGeom>
          <a:noFill/>
          <a:ln/>
        </p:spPr>
        <p:txBody>
          <a:bodyPr wrap="square" rtlCol="0" anchor="ctr"/>
          <a:lstStyle/>
          <a:p>
            <a:pPr marL="0" indent="0">
              <a:buNone/>
            </a:pPr>
            <a:endParaRPr lang="en-US" sz="1100" dirty="0"/>
          </a:p>
        </p:txBody>
      </p:sp>
      <p:graphicFrame>
        <p:nvGraphicFramePr>
          <p:cNvPr id="7" name="Tabla 6">
            <a:extLst>
              <a:ext uri="{FF2B5EF4-FFF2-40B4-BE49-F238E27FC236}">
                <a16:creationId xmlns:a16="http://schemas.microsoft.com/office/drawing/2014/main" id="{90F29285-E145-9595-B76F-FBD34936721E}"/>
              </a:ext>
            </a:extLst>
          </p:cNvPr>
          <p:cNvGraphicFramePr>
            <a:graphicFrameLocks noGrp="1"/>
          </p:cNvGraphicFramePr>
          <p:nvPr>
            <p:extLst>
              <p:ext uri="{D42A27DB-BD31-4B8C-83A1-F6EECF244321}">
                <p14:modId xmlns:p14="http://schemas.microsoft.com/office/powerpoint/2010/main" val="805971371"/>
              </p:ext>
            </p:extLst>
          </p:nvPr>
        </p:nvGraphicFramePr>
        <p:xfrm>
          <a:off x="1599760" y="868362"/>
          <a:ext cx="5982728" cy="3886519"/>
        </p:xfrm>
        <a:graphic>
          <a:graphicData uri="http://schemas.openxmlformats.org/drawingml/2006/table">
            <a:tbl>
              <a:tblPr>
                <a:tableStyleId>{5C22544A-7EE6-4342-B048-85BDC9FD1C3A}</a:tableStyleId>
              </a:tblPr>
              <a:tblGrid>
                <a:gridCol w="617187">
                  <a:extLst>
                    <a:ext uri="{9D8B030D-6E8A-4147-A177-3AD203B41FA5}">
                      <a16:colId xmlns:a16="http://schemas.microsoft.com/office/drawing/2014/main" val="3857181898"/>
                    </a:ext>
                  </a:extLst>
                </a:gridCol>
                <a:gridCol w="776460">
                  <a:extLst>
                    <a:ext uri="{9D8B030D-6E8A-4147-A177-3AD203B41FA5}">
                      <a16:colId xmlns:a16="http://schemas.microsoft.com/office/drawing/2014/main" val="592694555"/>
                    </a:ext>
                  </a:extLst>
                </a:gridCol>
                <a:gridCol w="617187">
                  <a:extLst>
                    <a:ext uri="{9D8B030D-6E8A-4147-A177-3AD203B41FA5}">
                      <a16:colId xmlns:a16="http://schemas.microsoft.com/office/drawing/2014/main" val="64631252"/>
                    </a:ext>
                  </a:extLst>
                </a:gridCol>
                <a:gridCol w="1015371">
                  <a:extLst>
                    <a:ext uri="{9D8B030D-6E8A-4147-A177-3AD203B41FA5}">
                      <a16:colId xmlns:a16="http://schemas.microsoft.com/office/drawing/2014/main" val="4081649907"/>
                    </a:ext>
                  </a:extLst>
                </a:gridCol>
                <a:gridCol w="617187">
                  <a:extLst>
                    <a:ext uri="{9D8B030D-6E8A-4147-A177-3AD203B41FA5}">
                      <a16:colId xmlns:a16="http://schemas.microsoft.com/office/drawing/2014/main" val="2385306290"/>
                    </a:ext>
                  </a:extLst>
                </a:gridCol>
                <a:gridCol w="617187">
                  <a:extLst>
                    <a:ext uri="{9D8B030D-6E8A-4147-A177-3AD203B41FA5}">
                      <a16:colId xmlns:a16="http://schemas.microsoft.com/office/drawing/2014/main" val="3856676147"/>
                    </a:ext>
                  </a:extLst>
                </a:gridCol>
                <a:gridCol w="776460">
                  <a:extLst>
                    <a:ext uri="{9D8B030D-6E8A-4147-A177-3AD203B41FA5}">
                      <a16:colId xmlns:a16="http://schemas.microsoft.com/office/drawing/2014/main" val="1294480801"/>
                    </a:ext>
                  </a:extLst>
                </a:gridCol>
                <a:gridCol w="945689">
                  <a:extLst>
                    <a:ext uri="{9D8B030D-6E8A-4147-A177-3AD203B41FA5}">
                      <a16:colId xmlns:a16="http://schemas.microsoft.com/office/drawing/2014/main" val="4057952433"/>
                    </a:ext>
                  </a:extLst>
                </a:gridCol>
              </a:tblGrid>
              <a:tr h="193582">
                <a:tc gridSpan="4">
                  <a:txBody>
                    <a:bodyPr/>
                    <a:lstStyle/>
                    <a:p>
                      <a:pPr algn="l" fontAlgn="ctr">
                        <a:buNone/>
                      </a:pPr>
                      <a:r>
                        <a:rPr lang="es-MX" sz="1000" u="none" strike="noStrike">
                          <a:effectLst/>
                        </a:rPr>
                        <a:t>Perfiles de Clusters — Migración Predicha</a:t>
                      </a:r>
                      <a:endParaRPr lang="es-MX" sz="1000" b="0" i="0" u="none" strike="noStrike">
                        <a:solidFill>
                          <a:srgbClr val="000000"/>
                        </a:solidFill>
                        <a:effectLst/>
                        <a:latin typeface="Aptos Narrow" panose="020B0004020202020204" pitchFamily="34" charset="0"/>
                      </a:endParaRPr>
                    </a:p>
                  </a:txBody>
                  <a:tcPr marL="4166" marR="4166" marT="4166" marB="0" anchor="ctr"/>
                </a:tc>
                <a:tc hMerge="1">
                  <a:txBody>
                    <a:bodyPr/>
                    <a:lstStyle/>
                    <a:p>
                      <a:endParaRPr lang="es-CO"/>
                    </a:p>
                  </a:txBody>
                  <a:tcPr/>
                </a:tc>
                <a:tc hMerge="1">
                  <a:txBody>
                    <a:bodyPr/>
                    <a:lstStyle/>
                    <a:p>
                      <a:endParaRPr lang="es-CO"/>
                    </a:p>
                  </a:txBody>
                  <a:tcPr/>
                </a:tc>
                <a:tc hMerge="1">
                  <a:txBody>
                    <a:bodyPr/>
                    <a:lstStyle/>
                    <a:p>
                      <a:endParaRPr lang="es-CO"/>
                    </a:p>
                  </a:txBody>
                  <a:tcPr/>
                </a:tc>
                <a:tc>
                  <a:txBody>
                    <a:bodyPr/>
                    <a:lstStyle/>
                    <a:p>
                      <a:pPr algn="l" fontAlgn="b">
                        <a:buNone/>
                      </a:pPr>
                      <a:endParaRPr lang="es-CO" sz="600" b="0" i="0" u="none" strike="noStrike">
                        <a:solidFill>
                          <a:srgbClr val="000000"/>
                        </a:solidFill>
                        <a:effectLst/>
                        <a:latin typeface="Aptos Narrow" panose="020B0004020202020204" pitchFamily="34" charset="0"/>
                      </a:endParaRPr>
                    </a:p>
                  </a:txBody>
                  <a:tcPr marL="4166" marR="4166" marT="4166" marB="0" anchor="b"/>
                </a:tc>
                <a:tc>
                  <a:txBody>
                    <a:bodyPr/>
                    <a:lstStyle/>
                    <a:p>
                      <a:pPr algn="l" fontAlgn="b">
                        <a:buNone/>
                      </a:pPr>
                      <a:endParaRPr lang="es-CO" sz="600" b="0" i="0" u="none" strike="noStrike">
                        <a:solidFill>
                          <a:srgbClr val="000000"/>
                        </a:solidFill>
                        <a:effectLst/>
                        <a:latin typeface="Aptos Narrow" panose="020B0004020202020204" pitchFamily="34" charset="0"/>
                      </a:endParaRPr>
                    </a:p>
                  </a:txBody>
                  <a:tcPr marL="4166" marR="4166" marT="4166" marB="0" anchor="b"/>
                </a:tc>
                <a:tc>
                  <a:txBody>
                    <a:bodyPr/>
                    <a:lstStyle/>
                    <a:p>
                      <a:pPr algn="l" fontAlgn="b">
                        <a:buNone/>
                      </a:pPr>
                      <a:endParaRPr lang="es-CO" sz="600" b="0" i="0" u="none" strike="noStrike">
                        <a:solidFill>
                          <a:srgbClr val="000000"/>
                        </a:solidFill>
                        <a:effectLst/>
                        <a:latin typeface="Aptos Narrow" panose="020B0004020202020204" pitchFamily="34" charset="0"/>
                      </a:endParaRPr>
                    </a:p>
                  </a:txBody>
                  <a:tcPr marL="4166" marR="4166" marT="4166" marB="0" anchor="b"/>
                </a:tc>
                <a:tc>
                  <a:txBody>
                    <a:bodyPr/>
                    <a:lstStyle/>
                    <a:p>
                      <a:pPr algn="l" fontAlgn="b">
                        <a:buNone/>
                      </a:pPr>
                      <a:endParaRPr lang="es-CO" sz="600" b="0" i="0" u="none" strike="noStrike" dirty="0">
                        <a:solidFill>
                          <a:srgbClr val="000000"/>
                        </a:solidFill>
                        <a:effectLst/>
                        <a:latin typeface="Aptos Narrow" panose="020B0004020202020204" pitchFamily="34" charset="0"/>
                      </a:endParaRPr>
                    </a:p>
                  </a:txBody>
                  <a:tcPr marL="4166" marR="4166" marT="4166" marB="0" anchor="b"/>
                </a:tc>
                <a:extLst>
                  <a:ext uri="{0D108BD9-81ED-4DB2-BD59-A6C34878D82A}">
                    <a16:rowId xmlns:a16="http://schemas.microsoft.com/office/drawing/2014/main" val="3518379129"/>
                  </a:ext>
                </a:extLst>
              </a:tr>
              <a:tr h="119127">
                <a:tc>
                  <a:txBody>
                    <a:bodyPr/>
                    <a:lstStyle/>
                    <a:p>
                      <a:pPr algn="l" fontAlgn="b">
                        <a:buNone/>
                      </a:pPr>
                      <a:endParaRPr lang="es-CO" sz="600" b="0" i="0" u="none" strike="noStrike">
                        <a:solidFill>
                          <a:srgbClr val="000000"/>
                        </a:solidFill>
                        <a:effectLst/>
                        <a:latin typeface="Aptos Narrow" panose="020B0004020202020204" pitchFamily="34" charset="0"/>
                      </a:endParaRPr>
                    </a:p>
                  </a:txBody>
                  <a:tcPr marL="4166" marR="4166" marT="4166" marB="0" anchor="b"/>
                </a:tc>
                <a:tc>
                  <a:txBody>
                    <a:bodyPr/>
                    <a:lstStyle/>
                    <a:p>
                      <a:pPr algn="l" fontAlgn="b">
                        <a:buNone/>
                      </a:pPr>
                      <a:endParaRPr lang="es-CO" sz="600" b="0" i="0" u="none" strike="noStrike">
                        <a:solidFill>
                          <a:srgbClr val="000000"/>
                        </a:solidFill>
                        <a:effectLst/>
                        <a:latin typeface="Aptos Narrow" panose="020B0004020202020204" pitchFamily="34" charset="0"/>
                      </a:endParaRPr>
                    </a:p>
                  </a:txBody>
                  <a:tcPr marL="4166" marR="4166" marT="4166" marB="0" anchor="b"/>
                </a:tc>
                <a:tc>
                  <a:txBody>
                    <a:bodyPr/>
                    <a:lstStyle/>
                    <a:p>
                      <a:pPr algn="l" fontAlgn="b">
                        <a:buNone/>
                      </a:pPr>
                      <a:endParaRPr lang="es-CO" sz="600" b="0" i="0" u="none" strike="noStrike">
                        <a:solidFill>
                          <a:srgbClr val="000000"/>
                        </a:solidFill>
                        <a:effectLst/>
                        <a:latin typeface="Aptos Narrow" panose="020B0004020202020204" pitchFamily="34" charset="0"/>
                      </a:endParaRPr>
                    </a:p>
                  </a:txBody>
                  <a:tcPr marL="4166" marR="4166" marT="4166" marB="0" anchor="b"/>
                </a:tc>
                <a:tc>
                  <a:txBody>
                    <a:bodyPr/>
                    <a:lstStyle/>
                    <a:p>
                      <a:pPr algn="l" fontAlgn="b">
                        <a:buNone/>
                      </a:pPr>
                      <a:endParaRPr lang="es-CO" sz="600" b="0" i="0" u="none" strike="noStrike">
                        <a:solidFill>
                          <a:srgbClr val="000000"/>
                        </a:solidFill>
                        <a:effectLst/>
                        <a:latin typeface="Aptos Narrow" panose="020B0004020202020204" pitchFamily="34" charset="0"/>
                      </a:endParaRPr>
                    </a:p>
                  </a:txBody>
                  <a:tcPr marL="4166" marR="4166" marT="4166" marB="0" anchor="b"/>
                </a:tc>
                <a:tc>
                  <a:txBody>
                    <a:bodyPr/>
                    <a:lstStyle/>
                    <a:p>
                      <a:pPr algn="l" fontAlgn="b">
                        <a:buNone/>
                      </a:pPr>
                      <a:endParaRPr lang="es-CO" sz="600" b="0" i="0" u="none" strike="noStrike">
                        <a:solidFill>
                          <a:srgbClr val="000000"/>
                        </a:solidFill>
                        <a:effectLst/>
                        <a:latin typeface="Aptos Narrow" panose="020B0004020202020204" pitchFamily="34" charset="0"/>
                      </a:endParaRPr>
                    </a:p>
                  </a:txBody>
                  <a:tcPr marL="4166" marR="4166" marT="4166" marB="0" anchor="b"/>
                </a:tc>
                <a:tc>
                  <a:txBody>
                    <a:bodyPr/>
                    <a:lstStyle/>
                    <a:p>
                      <a:pPr algn="l" fontAlgn="b">
                        <a:buNone/>
                      </a:pPr>
                      <a:endParaRPr lang="es-CO" sz="600" b="0" i="0" u="none" strike="noStrike">
                        <a:solidFill>
                          <a:srgbClr val="000000"/>
                        </a:solidFill>
                        <a:effectLst/>
                        <a:latin typeface="Aptos Narrow" panose="020B0004020202020204" pitchFamily="34" charset="0"/>
                      </a:endParaRPr>
                    </a:p>
                  </a:txBody>
                  <a:tcPr marL="4166" marR="4166" marT="4166" marB="0" anchor="b"/>
                </a:tc>
                <a:tc>
                  <a:txBody>
                    <a:bodyPr/>
                    <a:lstStyle/>
                    <a:p>
                      <a:pPr algn="l" fontAlgn="b">
                        <a:buNone/>
                      </a:pPr>
                      <a:endParaRPr lang="es-CO" sz="600" b="0" i="0" u="none" strike="noStrike">
                        <a:solidFill>
                          <a:srgbClr val="000000"/>
                        </a:solidFill>
                        <a:effectLst/>
                        <a:latin typeface="Aptos Narrow" panose="020B0004020202020204" pitchFamily="34" charset="0"/>
                      </a:endParaRPr>
                    </a:p>
                  </a:txBody>
                  <a:tcPr marL="4166" marR="4166" marT="4166" marB="0" anchor="b"/>
                </a:tc>
                <a:tc>
                  <a:txBody>
                    <a:bodyPr/>
                    <a:lstStyle/>
                    <a:p>
                      <a:pPr algn="l" fontAlgn="b">
                        <a:buNone/>
                      </a:pPr>
                      <a:endParaRPr lang="es-CO" sz="600" b="0" i="0" u="none" strike="noStrike">
                        <a:solidFill>
                          <a:srgbClr val="000000"/>
                        </a:solidFill>
                        <a:effectLst/>
                        <a:latin typeface="Aptos Narrow" panose="020B0004020202020204" pitchFamily="34" charset="0"/>
                      </a:endParaRPr>
                    </a:p>
                  </a:txBody>
                  <a:tcPr marL="4166" marR="4166" marT="4166" marB="0" anchor="b"/>
                </a:tc>
                <a:extLst>
                  <a:ext uri="{0D108BD9-81ED-4DB2-BD59-A6C34878D82A}">
                    <a16:rowId xmlns:a16="http://schemas.microsoft.com/office/drawing/2014/main" val="1954691584"/>
                  </a:ext>
                </a:extLst>
              </a:tr>
              <a:tr h="357381">
                <a:tc>
                  <a:txBody>
                    <a:bodyPr/>
                    <a:lstStyle/>
                    <a:p>
                      <a:pPr algn="ctr" fontAlgn="ctr">
                        <a:buNone/>
                      </a:pPr>
                      <a:r>
                        <a:rPr lang="es-CO" sz="600" u="none" strike="noStrike">
                          <a:effectLst/>
                        </a:rPr>
                        <a:t>Cluster</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Nombre estratégico del cluster</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Tamaño</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Perfil dominante</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Ingreso promedio</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Edad promedio</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Origen más común</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Principales destinos</a:t>
                      </a:r>
                      <a:endParaRPr lang="es-CO" sz="600" b="0" i="0" u="none" strike="noStrike">
                        <a:solidFill>
                          <a:srgbClr val="000000"/>
                        </a:solidFill>
                        <a:effectLst/>
                        <a:latin typeface="Aptos Narrow" panose="020B0004020202020204" pitchFamily="34" charset="0"/>
                      </a:endParaRPr>
                    </a:p>
                  </a:txBody>
                  <a:tcPr marL="4166" marR="4166" marT="4166" marB="0" anchor="ctr"/>
                </a:tc>
                <a:extLst>
                  <a:ext uri="{0D108BD9-81ED-4DB2-BD59-A6C34878D82A}">
                    <a16:rowId xmlns:a16="http://schemas.microsoft.com/office/drawing/2014/main" val="550085047"/>
                  </a:ext>
                </a:extLst>
              </a:tr>
              <a:tr h="476508">
                <a:tc>
                  <a:txBody>
                    <a:bodyPr/>
                    <a:lstStyle/>
                    <a:p>
                      <a:pPr algn="ctr" fontAlgn="ctr">
                        <a:buNone/>
                      </a:pPr>
                      <a:r>
                        <a:rPr lang="es-CO" sz="600" u="none" strike="noStrike">
                          <a:effectLst/>
                        </a:rPr>
                        <a:t>0</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Élite laboral metropolitana</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7,393 personas</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MX" sz="600" u="none" strike="noStrike">
                          <a:effectLst/>
                        </a:rPr>
                        <a:t>26–45 años, Hombre, Urbano, Formal</a:t>
                      </a:r>
                      <a:endParaRPr lang="es-MX"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$3,095,868</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30 años</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Cundinamarca</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Bogotá (61.4%), Antioquia, Meta</a:t>
                      </a:r>
                      <a:endParaRPr lang="es-CO" sz="600" b="0" i="0" u="none" strike="noStrike">
                        <a:solidFill>
                          <a:srgbClr val="000000"/>
                        </a:solidFill>
                        <a:effectLst/>
                        <a:latin typeface="Aptos Narrow" panose="020B0004020202020204" pitchFamily="34" charset="0"/>
                      </a:endParaRPr>
                    </a:p>
                  </a:txBody>
                  <a:tcPr marL="4166" marR="4166" marT="4166" marB="0" anchor="ctr"/>
                </a:tc>
                <a:extLst>
                  <a:ext uri="{0D108BD9-81ED-4DB2-BD59-A6C34878D82A}">
                    <a16:rowId xmlns:a16="http://schemas.microsoft.com/office/drawing/2014/main" val="547517176"/>
                  </a:ext>
                </a:extLst>
              </a:tr>
              <a:tr h="595635">
                <a:tc>
                  <a:txBody>
                    <a:bodyPr/>
                    <a:lstStyle/>
                    <a:p>
                      <a:pPr algn="ctr" fontAlgn="ctr">
                        <a:buNone/>
                      </a:pPr>
                      <a:r>
                        <a:rPr lang="es-CO" sz="600" u="none" strike="noStrike">
                          <a:effectLst/>
                        </a:rPr>
                        <a:t>1</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Migración de supervivencia urbana</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10,108 personas</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26–45 años, Hombre, Urbano, Parcialmente formal</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$ 0</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34 años</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Antioquia</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Bogotá (91.2%), Antioquia, Nariño</a:t>
                      </a:r>
                      <a:endParaRPr lang="es-CO" sz="600" b="0" i="0" u="none" strike="noStrike">
                        <a:solidFill>
                          <a:srgbClr val="000000"/>
                        </a:solidFill>
                        <a:effectLst/>
                        <a:latin typeface="Aptos Narrow" panose="020B0004020202020204" pitchFamily="34" charset="0"/>
                      </a:endParaRPr>
                    </a:p>
                  </a:txBody>
                  <a:tcPr marL="4166" marR="4166" marT="4166" marB="0" anchor="ctr"/>
                </a:tc>
                <a:extLst>
                  <a:ext uri="{0D108BD9-81ED-4DB2-BD59-A6C34878D82A}">
                    <a16:rowId xmlns:a16="http://schemas.microsoft.com/office/drawing/2014/main" val="878580498"/>
                  </a:ext>
                </a:extLst>
              </a:tr>
              <a:tr h="476508">
                <a:tc>
                  <a:txBody>
                    <a:bodyPr/>
                    <a:lstStyle/>
                    <a:p>
                      <a:pPr algn="ctr" fontAlgn="ctr">
                        <a:buNone/>
                      </a:pPr>
                      <a:r>
                        <a:rPr lang="es-CO" sz="600" u="none" strike="noStrike">
                          <a:effectLst/>
                        </a:rPr>
                        <a:t>2</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Generación dependiente metropolitana</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27,734 personas</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MX" sz="600" u="none" strike="noStrike" dirty="0">
                          <a:effectLst/>
                        </a:rPr>
                        <a:t>0–18 años, Mujer, Urbano, No ocupado</a:t>
                      </a:r>
                      <a:endParaRPr lang="es-MX" sz="600" b="0" i="0" u="none" strike="noStrike" dirty="0">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dirty="0">
                          <a:effectLst/>
                        </a:rPr>
                        <a:t>$ 0</a:t>
                      </a:r>
                      <a:endParaRPr lang="es-CO" sz="600" b="0" i="0" u="none" strike="noStrike" dirty="0">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21 años</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Cundinamarca</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Bogotá (73.5%), Antioquia, Boyacá</a:t>
                      </a:r>
                      <a:endParaRPr lang="es-CO" sz="600" b="0" i="0" u="none" strike="noStrike">
                        <a:solidFill>
                          <a:srgbClr val="000000"/>
                        </a:solidFill>
                        <a:effectLst/>
                        <a:latin typeface="Aptos Narrow" panose="020B0004020202020204" pitchFamily="34" charset="0"/>
                      </a:endParaRPr>
                    </a:p>
                  </a:txBody>
                  <a:tcPr marL="4166" marR="4166" marT="4166" marB="0" anchor="ctr"/>
                </a:tc>
                <a:extLst>
                  <a:ext uri="{0D108BD9-81ED-4DB2-BD59-A6C34878D82A}">
                    <a16:rowId xmlns:a16="http://schemas.microsoft.com/office/drawing/2014/main" val="3472040409"/>
                  </a:ext>
                </a:extLst>
              </a:tr>
              <a:tr h="476508">
                <a:tc>
                  <a:txBody>
                    <a:bodyPr/>
                    <a:lstStyle/>
                    <a:p>
                      <a:pPr algn="ctr" fontAlgn="ctr">
                        <a:buNone/>
                      </a:pPr>
                      <a:r>
                        <a:rPr lang="es-CO" sz="600" u="none" strike="noStrike">
                          <a:effectLst/>
                        </a:rPr>
                        <a:t>3</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MX" sz="600" u="none" strike="noStrike">
                          <a:effectLst/>
                        </a:rPr>
                        <a:t>Jóvenes en transición y oportunidad</a:t>
                      </a:r>
                      <a:endParaRPr lang="es-MX"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9,439 personas</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MX" sz="600" u="none" strike="noStrike">
                          <a:effectLst/>
                        </a:rPr>
                        <a:t>19–25 años, Mujer, Urbano, No ocupado</a:t>
                      </a:r>
                      <a:endParaRPr lang="es-MX"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$ 0</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22 años</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Caquetá</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Bogotá (74.0%), Nariño, Antioquia</a:t>
                      </a:r>
                      <a:endParaRPr lang="es-CO" sz="600" b="0" i="0" u="none" strike="noStrike">
                        <a:solidFill>
                          <a:srgbClr val="000000"/>
                        </a:solidFill>
                        <a:effectLst/>
                        <a:latin typeface="Aptos Narrow" panose="020B0004020202020204" pitchFamily="34" charset="0"/>
                      </a:endParaRPr>
                    </a:p>
                  </a:txBody>
                  <a:tcPr marL="4166" marR="4166" marT="4166" marB="0" anchor="ctr"/>
                </a:tc>
                <a:extLst>
                  <a:ext uri="{0D108BD9-81ED-4DB2-BD59-A6C34878D82A}">
                    <a16:rowId xmlns:a16="http://schemas.microsoft.com/office/drawing/2014/main" val="168588717"/>
                  </a:ext>
                </a:extLst>
              </a:tr>
              <a:tr h="595635">
                <a:tc>
                  <a:txBody>
                    <a:bodyPr/>
                    <a:lstStyle/>
                    <a:p>
                      <a:pPr algn="ctr" fontAlgn="ctr">
                        <a:buNone/>
                      </a:pPr>
                      <a:r>
                        <a:rPr lang="es-CO" sz="600" u="none" strike="noStrike">
                          <a:effectLst/>
                        </a:rPr>
                        <a:t>4</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Clase trabajadora emergente</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7,481 personas</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26–45 años, Hombre, Urbano, Parcialmente formal</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$1,252,982</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31 años</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Meta</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Bogotá (43.0%), Antioquia, Caldas</a:t>
                      </a:r>
                      <a:endParaRPr lang="es-CO" sz="600" b="0" i="0" u="none" strike="noStrike">
                        <a:solidFill>
                          <a:srgbClr val="000000"/>
                        </a:solidFill>
                        <a:effectLst/>
                        <a:latin typeface="Aptos Narrow" panose="020B0004020202020204" pitchFamily="34" charset="0"/>
                      </a:endParaRPr>
                    </a:p>
                  </a:txBody>
                  <a:tcPr marL="4166" marR="4166" marT="4166" marB="0" anchor="ctr"/>
                </a:tc>
                <a:extLst>
                  <a:ext uri="{0D108BD9-81ED-4DB2-BD59-A6C34878D82A}">
                    <a16:rowId xmlns:a16="http://schemas.microsoft.com/office/drawing/2014/main" val="3825310842"/>
                  </a:ext>
                </a:extLst>
              </a:tr>
              <a:tr h="595635">
                <a:tc>
                  <a:txBody>
                    <a:bodyPr/>
                    <a:lstStyle/>
                    <a:p>
                      <a:pPr algn="ctr" fontAlgn="ctr">
                        <a:buNone/>
                      </a:pPr>
                      <a:r>
                        <a:rPr lang="es-CO" sz="600" u="none" strike="noStrike">
                          <a:effectLst/>
                        </a:rPr>
                        <a:t>5</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Mujeres de movilidad ascendente</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6,051 personas</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MX" sz="600" u="none" strike="noStrike">
                          <a:effectLst/>
                        </a:rPr>
                        <a:t>19–25 años, Mujer, Urbano, Parcialmente formal</a:t>
                      </a:r>
                      <a:endParaRPr lang="es-MX"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$ 938,76</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25 años</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a:effectLst/>
                        </a:rPr>
                        <a:t>Antioquia</a:t>
                      </a:r>
                      <a:endParaRPr lang="es-CO" sz="600" b="0" i="0" u="none" strike="noStrike">
                        <a:solidFill>
                          <a:srgbClr val="000000"/>
                        </a:solidFill>
                        <a:effectLst/>
                        <a:latin typeface="Aptos Narrow" panose="020B0004020202020204" pitchFamily="34" charset="0"/>
                      </a:endParaRPr>
                    </a:p>
                  </a:txBody>
                  <a:tcPr marL="4166" marR="4166" marT="4166" marB="0" anchor="ctr"/>
                </a:tc>
                <a:tc>
                  <a:txBody>
                    <a:bodyPr/>
                    <a:lstStyle/>
                    <a:p>
                      <a:pPr algn="ctr" fontAlgn="ctr">
                        <a:buNone/>
                      </a:pPr>
                      <a:r>
                        <a:rPr lang="es-CO" sz="600" u="none" strike="noStrike" dirty="0">
                          <a:effectLst/>
                        </a:rPr>
                        <a:t>Bogotá (61.1%), Antioquia, Meta </a:t>
                      </a:r>
                      <a:endParaRPr lang="es-CO" sz="600" b="0" i="0" u="none" strike="noStrike" dirty="0">
                        <a:solidFill>
                          <a:srgbClr val="000000"/>
                        </a:solidFill>
                        <a:effectLst/>
                        <a:latin typeface="Aptos Narrow" panose="020B0004020202020204" pitchFamily="34" charset="0"/>
                      </a:endParaRPr>
                    </a:p>
                  </a:txBody>
                  <a:tcPr marL="4166" marR="4166" marT="4166" marB="0" anchor="ctr"/>
                </a:tc>
                <a:extLst>
                  <a:ext uri="{0D108BD9-81ED-4DB2-BD59-A6C34878D82A}">
                    <a16:rowId xmlns:a16="http://schemas.microsoft.com/office/drawing/2014/main" val="3150892273"/>
                  </a:ext>
                </a:extLst>
              </a:tr>
            </a:tbl>
          </a:graphicData>
        </a:graphic>
      </p:graphicFrame>
    </p:spTree>
    <p:extLst>
      <p:ext uri="{BB962C8B-B14F-4D97-AF65-F5344CB8AC3E}">
        <p14:creationId xmlns:p14="http://schemas.microsoft.com/office/powerpoint/2010/main" val="1449570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a:extLst>
            <a:ext uri="{FF2B5EF4-FFF2-40B4-BE49-F238E27FC236}">
              <a16:creationId xmlns:a16="http://schemas.microsoft.com/office/drawing/2014/main" id="{B15483CB-8B50-813E-B028-640ABA96093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A7D7C32-97DE-0F42-641B-8D9BB8212ED6}"/>
              </a:ext>
            </a:extLst>
          </p:cNvPr>
          <p:cNvSpPr/>
          <p:nvPr/>
        </p:nvSpPr>
        <p:spPr>
          <a:xfrm>
            <a:off x="0" y="0"/>
            <a:ext cx="9144000" cy="713232"/>
          </a:xfrm>
          <a:prstGeom prst="rect">
            <a:avLst/>
          </a:prstGeom>
          <a:solidFill>
            <a:srgbClr val="1A2E5A"/>
          </a:solidFill>
          <a:ln w="12700">
            <a:solidFill>
              <a:srgbClr val="1A2E5A"/>
            </a:solidFill>
            <a:prstDash val="solid"/>
          </a:ln>
        </p:spPr>
        <p:txBody>
          <a:bodyPr/>
          <a:lstStyle/>
          <a:p>
            <a:endParaRPr lang="es-CO"/>
          </a:p>
        </p:txBody>
      </p:sp>
      <p:sp>
        <p:nvSpPr>
          <p:cNvPr id="3" name="Shape 1">
            <a:extLst>
              <a:ext uri="{FF2B5EF4-FFF2-40B4-BE49-F238E27FC236}">
                <a16:creationId xmlns:a16="http://schemas.microsoft.com/office/drawing/2014/main" id="{8EA88E51-54F9-AE42-41B1-98DC0AB508A6}"/>
              </a:ext>
            </a:extLst>
          </p:cNvPr>
          <p:cNvSpPr/>
          <p:nvPr/>
        </p:nvSpPr>
        <p:spPr>
          <a:xfrm>
            <a:off x="0" y="0"/>
            <a:ext cx="365760" cy="713232"/>
          </a:xfrm>
          <a:prstGeom prst="rect">
            <a:avLst/>
          </a:prstGeom>
          <a:solidFill>
            <a:srgbClr val="E8A020"/>
          </a:solidFill>
          <a:ln w="12700">
            <a:solidFill>
              <a:srgbClr val="E8A020"/>
            </a:solidFill>
            <a:prstDash val="solid"/>
          </a:ln>
        </p:spPr>
        <p:txBody>
          <a:bodyPr/>
          <a:lstStyle/>
          <a:p>
            <a:endParaRPr lang="es-CO"/>
          </a:p>
        </p:txBody>
      </p:sp>
      <p:sp>
        <p:nvSpPr>
          <p:cNvPr id="4" name="Text 2">
            <a:extLst>
              <a:ext uri="{FF2B5EF4-FFF2-40B4-BE49-F238E27FC236}">
                <a16:creationId xmlns:a16="http://schemas.microsoft.com/office/drawing/2014/main" id="{3C97FEC9-B981-1996-8B0B-9142582AD485}"/>
              </a:ext>
            </a:extLst>
          </p:cNvPr>
          <p:cNvSpPr/>
          <p:nvPr/>
        </p:nvSpPr>
        <p:spPr>
          <a:xfrm>
            <a:off x="502920" y="0"/>
            <a:ext cx="8412480" cy="713232"/>
          </a:xfrm>
          <a:prstGeom prst="rect">
            <a:avLst/>
          </a:prstGeom>
          <a:noFill/>
          <a:ln/>
        </p:spPr>
        <p:txBody>
          <a:bodyPr wrap="square" rtlCol="0" anchor="ctr"/>
          <a:lstStyle/>
          <a:p>
            <a:r>
              <a:rPr lang="en-US" b="1" dirty="0">
                <a:solidFill>
                  <a:srgbClr val="FFFFFF"/>
                </a:solidFill>
                <a:latin typeface="Calibri" pitchFamily="34" charset="0"/>
                <a:ea typeface="Calibri" pitchFamily="34" charset="-122"/>
                <a:cs typeface="Calibri" pitchFamily="34" charset="-120"/>
              </a:rPr>
              <a:t>13. Mapas de </a:t>
            </a:r>
            <a:r>
              <a:rPr lang="en-US" b="1" dirty="0" err="1">
                <a:solidFill>
                  <a:srgbClr val="FFFFFF"/>
                </a:solidFill>
                <a:latin typeface="Calibri" pitchFamily="34" charset="0"/>
                <a:ea typeface="Calibri" pitchFamily="34" charset="-122"/>
                <a:cs typeface="Calibri" pitchFamily="34" charset="-120"/>
              </a:rPr>
              <a:t>calor</a:t>
            </a:r>
            <a:r>
              <a:rPr lang="en-US" b="1" dirty="0">
                <a:solidFill>
                  <a:srgbClr val="FFFFFF"/>
                </a:solidFill>
                <a:latin typeface="Calibri" pitchFamily="34" charset="0"/>
                <a:ea typeface="Calibri" pitchFamily="34" charset="-122"/>
                <a:cs typeface="Calibri" pitchFamily="34" charset="-120"/>
              </a:rPr>
              <a:t>	</a:t>
            </a:r>
            <a:endParaRPr lang="en-US" dirty="0"/>
          </a:p>
        </p:txBody>
      </p:sp>
      <p:sp>
        <p:nvSpPr>
          <p:cNvPr id="14" name="Text 12">
            <a:extLst>
              <a:ext uri="{FF2B5EF4-FFF2-40B4-BE49-F238E27FC236}">
                <a16:creationId xmlns:a16="http://schemas.microsoft.com/office/drawing/2014/main" id="{98FD5BCA-9B4F-FE9B-A561-B66AE7BDD105}"/>
              </a:ext>
            </a:extLst>
          </p:cNvPr>
          <p:cNvSpPr/>
          <p:nvPr/>
        </p:nvSpPr>
        <p:spPr>
          <a:xfrm>
            <a:off x="6071616" y="1783080"/>
            <a:ext cx="2697480" cy="457200"/>
          </a:xfrm>
          <a:prstGeom prst="rect">
            <a:avLst/>
          </a:prstGeom>
          <a:noFill/>
          <a:ln/>
        </p:spPr>
        <p:txBody>
          <a:bodyPr wrap="square" rtlCol="0" anchor="ctr"/>
          <a:lstStyle/>
          <a:p>
            <a:pPr marL="0" indent="0" algn="ctr">
              <a:buNone/>
            </a:pPr>
            <a:endParaRPr lang="en-US" sz="2200" dirty="0"/>
          </a:p>
        </p:txBody>
      </p:sp>
      <p:sp>
        <p:nvSpPr>
          <p:cNvPr id="15" name="Text 13">
            <a:extLst>
              <a:ext uri="{FF2B5EF4-FFF2-40B4-BE49-F238E27FC236}">
                <a16:creationId xmlns:a16="http://schemas.microsoft.com/office/drawing/2014/main" id="{C8030CC6-D3E1-0688-E62E-7B0F039815EA}"/>
              </a:ext>
            </a:extLst>
          </p:cNvPr>
          <p:cNvSpPr/>
          <p:nvPr/>
        </p:nvSpPr>
        <p:spPr>
          <a:xfrm>
            <a:off x="6071616" y="2240280"/>
            <a:ext cx="2697480" cy="347472"/>
          </a:xfrm>
          <a:prstGeom prst="rect">
            <a:avLst/>
          </a:prstGeom>
          <a:noFill/>
          <a:ln/>
        </p:spPr>
        <p:txBody>
          <a:bodyPr wrap="square" rtlCol="0" anchor="ctr"/>
          <a:lstStyle/>
          <a:p>
            <a:pPr marL="0" indent="0" algn="ctr">
              <a:buNone/>
            </a:pPr>
            <a:endParaRPr lang="en-US" sz="950" dirty="0"/>
          </a:p>
        </p:txBody>
      </p:sp>
      <p:sp>
        <p:nvSpPr>
          <p:cNvPr id="17" name="Text 15">
            <a:extLst>
              <a:ext uri="{FF2B5EF4-FFF2-40B4-BE49-F238E27FC236}">
                <a16:creationId xmlns:a16="http://schemas.microsoft.com/office/drawing/2014/main" id="{7A6A691E-B7E0-5B33-B9BA-AEDE1962FBB7}"/>
              </a:ext>
            </a:extLst>
          </p:cNvPr>
          <p:cNvSpPr/>
          <p:nvPr/>
        </p:nvSpPr>
        <p:spPr>
          <a:xfrm>
            <a:off x="356616" y="3089564"/>
            <a:ext cx="8412480" cy="1234440"/>
          </a:xfrm>
          <a:prstGeom prst="rect">
            <a:avLst/>
          </a:prstGeom>
          <a:noFill/>
          <a:ln/>
        </p:spPr>
        <p:txBody>
          <a:bodyPr wrap="square" rtlCol="0" anchor="ctr"/>
          <a:lstStyle/>
          <a:p>
            <a:pPr marL="0" indent="0">
              <a:buNone/>
            </a:pPr>
            <a:endParaRPr lang="en-US" sz="1100" dirty="0"/>
          </a:p>
        </p:txBody>
      </p:sp>
      <p:graphicFrame>
        <p:nvGraphicFramePr>
          <p:cNvPr id="5" name="Tabla 4">
            <a:extLst>
              <a:ext uri="{FF2B5EF4-FFF2-40B4-BE49-F238E27FC236}">
                <a16:creationId xmlns:a16="http://schemas.microsoft.com/office/drawing/2014/main" id="{B4A9EE55-DAC0-80DB-2204-B765C738A19E}"/>
              </a:ext>
            </a:extLst>
          </p:cNvPr>
          <p:cNvGraphicFramePr>
            <a:graphicFrameLocks noGrp="1"/>
          </p:cNvGraphicFramePr>
          <p:nvPr>
            <p:extLst>
              <p:ext uri="{D42A27DB-BD31-4B8C-83A1-F6EECF244321}">
                <p14:modId xmlns:p14="http://schemas.microsoft.com/office/powerpoint/2010/main" val="794251368"/>
              </p:ext>
            </p:extLst>
          </p:nvPr>
        </p:nvGraphicFramePr>
        <p:xfrm>
          <a:off x="5498448" y="1036620"/>
          <a:ext cx="3488669" cy="1634739"/>
        </p:xfrm>
        <a:graphic>
          <a:graphicData uri="http://schemas.openxmlformats.org/drawingml/2006/table">
            <a:tbl>
              <a:tblPr/>
              <a:tblGrid>
                <a:gridCol w="674697">
                  <a:extLst>
                    <a:ext uri="{9D8B030D-6E8A-4147-A177-3AD203B41FA5}">
                      <a16:colId xmlns:a16="http://schemas.microsoft.com/office/drawing/2014/main" val="467386138"/>
                    </a:ext>
                  </a:extLst>
                </a:gridCol>
                <a:gridCol w="703493">
                  <a:extLst>
                    <a:ext uri="{9D8B030D-6E8A-4147-A177-3AD203B41FA5}">
                      <a16:colId xmlns:a16="http://schemas.microsoft.com/office/drawing/2014/main" val="3379014720"/>
                    </a:ext>
                  </a:extLst>
                </a:gridCol>
                <a:gridCol w="703493">
                  <a:extLst>
                    <a:ext uri="{9D8B030D-6E8A-4147-A177-3AD203B41FA5}">
                      <a16:colId xmlns:a16="http://schemas.microsoft.com/office/drawing/2014/main" val="706934212"/>
                    </a:ext>
                  </a:extLst>
                </a:gridCol>
                <a:gridCol w="703493">
                  <a:extLst>
                    <a:ext uri="{9D8B030D-6E8A-4147-A177-3AD203B41FA5}">
                      <a16:colId xmlns:a16="http://schemas.microsoft.com/office/drawing/2014/main" val="2005813178"/>
                    </a:ext>
                  </a:extLst>
                </a:gridCol>
                <a:gridCol w="703493">
                  <a:extLst>
                    <a:ext uri="{9D8B030D-6E8A-4147-A177-3AD203B41FA5}">
                      <a16:colId xmlns:a16="http://schemas.microsoft.com/office/drawing/2014/main" val="2626380724"/>
                    </a:ext>
                  </a:extLst>
                </a:gridCol>
              </a:tblGrid>
              <a:tr h="402917">
                <a:tc>
                  <a:txBody>
                    <a:bodyPr/>
                    <a:lstStyle/>
                    <a:p>
                      <a:pPr>
                        <a:buNone/>
                      </a:pPr>
                      <a:r>
                        <a:rPr lang="es-CO" sz="800" b="1" dirty="0">
                          <a:effectLst/>
                          <a:latin typeface="Google Sans Text"/>
                        </a:rPr>
                        <a:t>Posición</a:t>
                      </a:r>
                      <a:endParaRPr lang="es-CO" sz="800" dirty="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b="1">
                          <a:effectLst/>
                          <a:latin typeface="Google Sans Text"/>
                        </a:rPr>
                        <a:t>Departamento de Origen</a:t>
                      </a:r>
                      <a:endParaRPr lang="es-CO" sz="80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b="1">
                          <a:effectLst/>
                          <a:latin typeface="Google Sans Text"/>
                        </a:rPr>
                        <a:t>N° Salen</a:t>
                      </a:r>
                      <a:endParaRPr lang="es-CO" sz="80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b="1">
                          <a:effectLst/>
                          <a:latin typeface="Google Sans Text"/>
                        </a:rPr>
                        <a:t>Departamento de Destino</a:t>
                      </a:r>
                      <a:endParaRPr lang="es-CO" sz="80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b="1">
                          <a:effectLst/>
                          <a:latin typeface="Google Sans Text"/>
                        </a:rPr>
                        <a:t>N° Llegan</a:t>
                      </a:r>
                      <a:endParaRPr lang="es-CO" sz="80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22321884"/>
                  </a:ext>
                </a:extLst>
              </a:tr>
              <a:tr h="229643">
                <a:tc>
                  <a:txBody>
                    <a:bodyPr/>
                    <a:lstStyle/>
                    <a:p>
                      <a:pPr>
                        <a:buNone/>
                      </a:pPr>
                      <a:r>
                        <a:rPr lang="es-CO" sz="800" b="1" dirty="0">
                          <a:effectLst/>
                          <a:latin typeface="Google Sans Text"/>
                        </a:rPr>
                        <a:t>1</a:t>
                      </a:r>
                      <a:endParaRPr lang="es-CO" sz="800" dirty="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Cundinamarca</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6,799</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Bogotá</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48,033</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32449760"/>
                  </a:ext>
                </a:extLst>
              </a:tr>
              <a:tr h="229643">
                <a:tc>
                  <a:txBody>
                    <a:bodyPr/>
                    <a:lstStyle/>
                    <a:p>
                      <a:pPr>
                        <a:buNone/>
                      </a:pPr>
                      <a:r>
                        <a:rPr lang="es-CO" sz="800" b="1">
                          <a:effectLst/>
                          <a:latin typeface="Google Sans Text"/>
                        </a:rPr>
                        <a:t>2</a:t>
                      </a:r>
                      <a:endParaRPr lang="es-CO" sz="80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Antioquia</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6,716</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dirty="0">
                          <a:effectLst/>
                          <a:latin typeface="Google Sans Text"/>
                        </a:rPr>
                        <a:t>Antioquia</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8,876</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71421466"/>
                  </a:ext>
                </a:extLst>
              </a:tr>
              <a:tr h="229643">
                <a:tc>
                  <a:txBody>
                    <a:bodyPr/>
                    <a:lstStyle/>
                    <a:p>
                      <a:pPr>
                        <a:buNone/>
                      </a:pPr>
                      <a:r>
                        <a:rPr lang="es-CO" sz="800" b="1">
                          <a:effectLst/>
                          <a:latin typeface="Google Sans Text"/>
                        </a:rPr>
                        <a:t>3</a:t>
                      </a:r>
                      <a:endParaRPr lang="es-CO" sz="80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Meta</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6,516</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Nariño</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1,903</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19287852"/>
                  </a:ext>
                </a:extLst>
              </a:tr>
              <a:tr h="229643">
                <a:tc>
                  <a:txBody>
                    <a:bodyPr/>
                    <a:lstStyle/>
                    <a:p>
                      <a:pPr>
                        <a:buNone/>
                      </a:pPr>
                      <a:r>
                        <a:rPr lang="es-CO" sz="800" b="1">
                          <a:effectLst/>
                          <a:latin typeface="Google Sans Text"/>
                        </a:rPr>
                        <a:t>4</a:t>
                      </a:r>
                      <a:endParaRPr lang="es-CO" sz="80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Caquetá</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6,155</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Boyacá</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1,731</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94347632"/>
                  </a:ext>
                </a:extLst>
              </a:tr>
              <a:tr h="229643">
                <a:tc>
                  <a:txBody>
                    <a:bodyPr/>
                    <a:lstStyle/>
                    <a:p>
                      <a:pPr>
                        <a:buNone/>
                      </a:pPr>
                      <a:r>
                        <a:rPr lang="es-CO" sz="800" b="1">
                          <a:effectLst/>
                          <a:latin typeface="Google Sans Text"/>
                        </a:rPr>
                        <a:t>5</a:t>
                      </a:r>
                      <a:endParaRPr lang="es-CO" sz="80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Caldas</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dirty="0">
                          <a:effectLst/>
                          <a:latin typeface="Google Sans Text"/>
                        </a:rPr>
                        <a:t>5,337</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Meta</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dirty="0">
                          <a:effectLst/>
                          <a:latin typeface="Google Sans Text"/>
                        </a:rPr>
                        <a:t>1,489</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69386651"/>
                  </a:ext>
                </a:extLst>
              </a:tr>
            </a:tbl>
          </a:graphicData>
        </a:graphic>
      </p:graphicFrame>
      <p:pic>
        <p:nvPicPr>
          <p:cNvPr id="7" name="Imagen 6">
            <a:extLst>
              <a:ext uri="{FF2B5EF4-FFF2-40B4-BE49-F238E27FC236}">
                <a16:creationId xmlns:a16="http://schemas.microsoft.com/office/drawing/2014/main" id="{1E785EC3-92BB-F9A4-05DB-FC06B94D172A}"/>
              </a:ext>
            </a:extLst>
          </p:cNvPr>
          <p:cNvPicPr>
            <a:picLocks noChangeAspect="1"/>
          </p:cNvPicPr>
          <p:nvPr/>
        </p:nvPicPr>
        <p:blipFill>
          <a:blip r:embed="rId3"/>
          <a:stretch>
            <a:fillRect/>
          </a:stretch>
        </p:blipFill>
        <p:spPr>
          <a:xfrm>
            <a:off x="48491" y="1253053"/>
            <a:ext cx="5310420" cy="2669397"/>
          </a:xfrm>
          <a:prstGeom prst="rect">
            <a:avLst/>
          </a:prstGeom>
        </p:spPr>
      </p:pic>
      <p:graphicFrame>
        <p:nvGraphicFramePr>
          <p:cNvPr id="8" name="Tabla 7">
            <a:extLst>
              <a:ext uri="{FF2B5EF4-FFF2-40B4-BE49-F238E27FC236}">
                <a16:creationId xmlns:a16="http://schemas.microsoft.com/office/drawing/2014/main" id="{5FA82B98-157A-D2C2-A384-65A43B294731}"/>
              </a:ext>
            </a:extLst>
          </p:cNvPr>
          <p:cNvGraphicFramePr>
            <a:graphicFrameLocks noGrp="1"/>
          </p:cNvGraphicFramePr>
          <p:nvPr>
            <p:extLst>
              <p:ext uri="{D42A27DB-BD31-4B8C-83A1-F6EECF244321}">
                <p14:modId xmlns:p14="http://schemas.microsoft.com/office/powerpoint/2010/main" val="3142344549"/>
              </p:ext>
            </p:extLst>
          </p:nvPr>
        </p:nvGraphicFramePr>
        <p:xfrm>
          <a:off x="5499695" y="2652330"/>
          <a:ext cx="3488669" cy="1386682"/>
        </p:xfrm>
        <a:graphic>
          <a:graphicData uri="http://schemas.openxmlformats.org/drawingml/2006/table">
            <a:tbl>
              <a:tblPr/>
              <a:tblGrid>
                <a:gridCol w="674697">
                  <a:extLst>
                    <a:ext uri="{9D8B030D-6E8A-4147-A177-3AD203B41FA5}">
                      <a16:colId xmlns:a16="http://schemas.microsoft.com/office/drawing/2014/main" val="3875121249"/>
                    </a:ext>
                  </a:extLst>
                </a:gridCol>
                <a:gridCol w="703493">
                  <a:extLst>
                    <a:ext uri="{9D8B030D-6E8A-4147-A177-3AD203B41FA5}">
                      <a16:colId xmlns:a16="http://schemas.microsoft.com/office/drawing/2014/main" val="1008470584"/>
                    </a:ext>
                  </a:extLst>
                </a:gridCol>
                <a:gridCol w="703493">
                  <a:extLst>
                    <a:ext uri="{9D8B030D-6E8A-4147-A177-3AD203B41FA5}">
                      <a16:colId xmlns:a16="http://schemas.microsoft.com/office/drawing/2014/main" val="506724092"/>
                    </a:ext>
                  </a:extLst>
                </a:gridCol>
                <a:gridCol w="703493">
                  <a:extLst>
                    <a:ext uri="{9D8B030D-6E8A-4147-A177-3AD203B41FA5}">
                      <a16:colId xmlns:a16="http://schemas.microsoft.com/office/drawing/2014/main" val="41275841"/>
                    </a:ext>
                  </a:extLst>
                </a:gridCol>
                <a:gridCol w="703493">
                  <a:extLst>
                    <a:ext uri="{9D8B030D-6E8A-4147-A177-3AD203B41FA5}">
                      <a16:colId xmlns:a16="http://schemas.microsoft.com/office/drawing/2014/main" val="3723069613"/>
                    </a:ext>
                  </a:extLst>
                </a:gridCol>
              </a:tblGrid>
              <a:tr h="268358">
                <a:tc>
                  <a:txBody>
                    <a:bodyPr/>
                    <a:lstStyle/>
                    <a:p>
                      <a:pPr>
                        <a:buNone/>
                      </a:pPr>
                      <a:r>
                        <a:rPr lang="es-CO" sz="800" b="1">
                          <a:effectLst/>
                          <a:latin typeface="Google Sans Text"/>
                        </a:rPr>
                        <a:t>6</a:t>
                      </a:r>
                      <a:endParaRPr lang="es-CO" sz="80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Boyacá</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dirty="0">
                          <a:effectLst/>
                          <a:latin typeface="Google Sans Text"/>
                        </a:rPr>
                        <a:t>4,833</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dirty="0">
                          <a:effectLst/>
                          <a:latin typeface="Google Sans Text"/>
                        </a:rPr>
                        <a:t>Valle</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1,042</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94502720"/>
                  </a:ext>
                </a:extLst>
              </a:tr>
              <a:tr h="268358">
                <a:tc>
                  <a:txBody>
                    <a:bodyPr/>
                    <a:lstStyle/>
                    <a:p>
                      <a:pPr>
                        <a:buNone/>
                      </a:pPr>
                      <a:r>
                        <a:rPr lang="es-CO" sz="800" b="1">
                          <a:effectLst/>
                          <a:latin typeface="Google Sans Text"/>
                        </a:rPr>
                        <a:t>7</a:t>
                      </a:r>
                      <a:endParaRPr lang="es-CO" sz="80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dirty="0">
                          <a:effectLst/>
                          <a:latin typeface="Google Sans Text"/>
                        </a:rPr>
                        <a:t>Cauca</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dirty="0">
                          <a:effectLst/>
                          <a:latin typeface="Google Sans Text"/>
                        </a:rPr>
                        <a:t>3,512</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Cesar</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881</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35769697"/>
                  </a:ext>
                </a:extLst>
              </a:tr>
              <a:tr h="268358">
                <a:tc>
                  <a:txBody>
                    <a:bodyPr/>
                    <a:lstStyle/>
                    <a:p>
                      <a:pPr>
                        <a:buNone/>
                      </a:pPr>
                      <a:r>
                        <a:rPr lang="es-CO" sz="800" b="1">
                          <a:effectLst/>
                          <a:latin typeface="Google Sans Text"/>
                        </a:rPr>
                        <a:t>8</a:t>
                      </a:r>
                      <a:endParaRPr lang="es-CO" sz="80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Risaralda</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dirty="0">
                          <a:effectLst/>
                          <a:latin typeface="Google Sans Text"/>
                        </a:rPr>
                        <a:t>2,832</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Cundinamarca</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721</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38477167"/>
                  </a:ext>
                </a:extLst>
              </a:tr>
              <a:tr h="268358">
                <a:tc>
                  <a:txBody>
                    <a:bodyPr/>
                    <a:lstStyle/>
                    <a:p>
                      <a:pPr>
                        <a:buNone/>
                      </a:pPr>
                      <a:r>
                        <a:rPr lang="es-CO" sz="800" b="1">
                          <a:effectLst/>
                          <a:latin typeface="Google Sans Text"/>
                        </a:rPr>
                        <a:t>9</a:t>
                      </a:r>
                      <a:endParaRPr lang="es-CO" sz="80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Valle</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dirty="0">
                          <a:effectLst/>
                          <a:latin typeface="Google Sans Text"/>
                        </a:rPr>
                        <a:t>2,814</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Cauca</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713</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89276331"/>
                  </a:ext>
                </a:extLst>
              </a:tr>
              <a:tr h="268358">
                <a:tc>
                  <a:txBody>
                    <a:bodyPr/>
                    <a:lstStyle/>
                    <a:p>
                      <a:pPr>
                        <a:buNone/>
                      </a:pPr>
                      <a:r>
                        <a:rPr lang="es-CO" sz="800" b="1">
                          <a:effectLst/>
                          <a:latin typeface="Google Sans Text"/>
                        </a:rPr>
                        <a:t>10</a:t>
                      </a:r>
                      <a:endParaRPr lang="es-CO" sz="800">
                        <a:effectLst/>
                        <a:latin typeface="Google Sans Text"/>
                      </a:endParaRP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Quindío</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2,379</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a:effectLst/>
                          <a:latin typeface="Google Sans Text"/>
                        </a:rPr>
                        <a:t>Caldas</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s-CO" sz="800" dirty="0">
                          <a:effectLst/>
                          <a:latin typeface="Google Sans Text"/>
                        </a:rPr>
                        <a:t>635</a:t>
                      </a:r>
                    </a:p>
                  </a:txBody>
                  <a:tcPr marL="69411" marR="69411" marT="34705" marB="3470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6311656"/>
                  </a:ext>
                </a:extLst>
              </a:tr>
            </a:tbl>
          </a:graphicData>
        </a:graphic>
      </p:graphicFrame>
    </p:spTree>
    <p:extLst>
      <p:ext uri="{BB962C8B-B14F-4D97-AF65-F5344CB8AC3E}">
        <p14:creationId xmlns:p14="http://schemas.microsoft.com/office/powerpoint/2010/main" val="1393097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1A2E5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020"/>
          </a:solidFill>
          <a:ln w="12700">
            <a:solidFill>
              <a:srgbClr val="E8A020"/>
            </a:solidFill>
            <a:prstDash val="solid"/>
          </a:ln>
        </p:spPr>
        <p:txBody>
          <a:bodyPr/>
          <a:lstStyle/>
          <a:p>
            <a:endParaRPr lang="es-CO"/>
          </a:p>
        </p:txBody>
      </p:sp>
      <p:sp>
        <p:nvSpPr>
          <p:cNvPr id="3" name="Text 1"/>
          <p:cNvSpPr/>
          <p:nvPr/>
        </p:nvSpPr>
        <p:spPr>
          <a:xfrm>
            <a:off x="457200" y="228600"/>
            <a:ext cx="8229600" cy="5486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Resumen Ejecutivo Final del Modelo</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896112"/>
          <a:ext cx="8412480" cy="3127248"/>
        </p:xfrm>
        <a:graphic>
          <a:graphicData uri="http://schemas.openxmlformats.org/drawingml/2006/table">
            <a:tbl>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347472">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Indicador</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0D6E8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Valor</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0D6E8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Interpretación</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0D6E8A"/>
                    </a:solidFill>
                  </a:tcPr>
                </a:tc>
                <a:extLst>
                  <a:ext uri="{0D108BD9-81ED-4DB2-BD59-A6C34878D82A}">
                    <a16:rowId xmlns:a16="http://schemas.microsoft.com/office/drawing/2014/main" val="10000"/>
                  </a:ext>
                </a:extLst>
              </a:tr>
              <a:tr h="347472">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Modelo Campeón</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XGBoost</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Mejor ROC-AUC CV entre los 4 modelos evaluados</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extLst>
                  <a:ext uri="{0D108BD9-81ED-4DB2-BD59-A6C34878D82A}">
                    <a16:rowId xmlns:a16="http://schemas.microsoft.com/office/drawing/2014/main" val="10001"/>
                  </a:ext>
                </a:extLst>
              </a:tr>
              <a:tr h="347472">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ROC-AUC CV</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0.7640</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Estimación interna (sobre muestra de train)</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extLst>
                  <a:ext uri="{0D108BD9-81ED-4DB2-BD59-A6C34878D82A}">
                    <a16:rowId xmlns:a16="http://schemas.microsoft.com/office/drawing/2014/main" val="10002"/>
                  </a:ext>
                </a:extLst>
              </a:tr>
              <a:tr h="347472">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ROC-AUC test</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0.7680</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Métrica oficial — datos nunca vistos</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extLst>
                  <a:ext uri="{0D108BD9-81ED-4DB2-BD59-A6C34878D82A}">
                    <a16:rowId xmlns:a16="http://schemas.microsoft.com/office/drawing/2014/main" val="10003"/>
                  </a:ext>
                </a:extLst>
              </a:tr>
              <a:tr h="347472">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Umbral Óptimo</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0.6566</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Maximiza Recall con Precision ≥ 10%</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extLst>
                  <a:ext uri="{0D108BD9-81ED-4DB2-BD59-A6C34878D82A}">
                    <a16:rowId xmlns:a16="http://schemas.microsoft.com/office/drawing/2014/main" val="10004"/>
                  </a:ext>
                </a:extLst>
              </a:tr>
              <a:tr h="347472">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Recall (test)</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0.3966</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39.7% de migrantes reales son detectados</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extLst>
                  <a:ext uri="{0D108BD9-81ED-4DB2-BD59-A6C34878D82A}">
                    <a16:rowId xmlns:a16="http://schemas.microsoft.com/office/drawing/2014/main" val="10005"/>
                  </a:ext>
                </a:extLst>
              </a:tr>
              <a:tr h="347472">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Precision (test)</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0.1008</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1 de cada 10 predichos migra realmente</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extLst>
                  <a:ext uri="{0D108BD9-81ED-4DB2-BD59-A6C34878D82A}">
                    <a16:rowId xmlns:a16="http://schemas.microsoft.com/office/drawing/2014/main" val="10006"/>
                  </a:ext>
                </a:extLst>
              </a:tr>
              <a:tr h="347472">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F1-Score (test)</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0.1607</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Balance entre Recall y Precision</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extLst>
                  <a:ext uri="{0D108BD9-81ED-4DB2-BD59-A6C34878D82A}">
                    <a16:rowId xmlns:a16="http://schemas.microsoft.com/office/drawing/2014/main" val="10007"/>
                  </a:ext>
                </a:extLst>
              </a:tr>
              <a:tr h="347472">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PR-AUC (test)</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0.1110</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tc>
                  <a:txBody>
                    <a:bodyPr/>
                    <a:lstStyle/>
                    <a:p>
                      <a:pPr marL="0" indent="0" algn="ctr">
                        <a:buNone/>
                      </a:pPr>
                      <a:r>
                        <a:rPr lang="en-US" sz="1050" dirty="0">
                          <a:solidFill>
                            <a:srgbClr val="D0E8FF"/>
                          </a:solidFill>
                          <a:latin typeface="Calibri" pitchFamily="34" charset="0"/>
                          <a:ea typeface="Calibri" pitchFamily="34" charset="-122"/>
                          <a:cs typeface="Calibri" pitchFamily="34" charset="-120"/>
                        </a:rPr>
                        <a:t>4.4× mejor que clasificar al azar (baseline 0.025)</a:t>
                      </a:r>
                      <a:endParaRPr lang="en-US" sz="1050" dirty="0">
                        <a:latin typeface="Calibri" charset="0"/>
                        <a:ea typeface="Calibri" charset="0"/>
                        <a:cs typeface="Calibri" charset="0"/>
                      </a:endParaRPr>
                    </a:p>
                  </a:txBody>
                  <a:tcPr>
                    <a:lnL w="12700" cap="flat" cmpd="sng" algn="ctr">
                      <a:solidFill>
                        <a:srgbClr val="304060"/>
                      </a:solidFill>
                      <a:prstDash val="solid"/>
                      <a:round/>
                      <a:headEnd type="none" w="med" len="med"/>
                      <a:tailEnd type="none" w="med" len="med"/>
                    </a:lnL>
                    <a:lnR w="12700" cap="flat" cmpd="sng" algn="ctr">
                      <a:solidFill>
                        <a:srgbClr val="304060"/>
                      </a:solidFill>
                      <a:prstDash val="solid"/>
                      <a:round/>
                      <a:headEnd type="none" w="med" len="med"/>
                      <a:tailEnd type="none" w="med" len="med"/>
                    </a:lnR>
                    <a:lnT w="12700" cap="flat" cmpd="sng" algn="ctr">
                      <a:solidFill>
                        <a:srgbClr val="304060"/>
                      </a:solidFill>
                      <a:prstDash val="solid"/>
                      <a:round/>
                      <a:headEnd type="none" w="med" len="med"/>
                      <a:tailEnd type="none" w="med" len="med"/>
                    </a:lnT>
                    <a:lnB w="12700" cap="flat" cmpd="sng" algn="ctr">
                      <a:solidFill>
                        <a:srgbClr val="304060"/>
                      </a:solidFill>
                      <a:prstDash val="solid"/>
                      <a:round/>
                      <a:headEnd type="none" w="med" len="med"/>
                      <a:tailEnd type="none" w="med" len="med"/>
                    </a:lnB>
                    <a:solidFill>
                      <a:srgbClr val="1E3560"/>
                    </a:solidFill>
                  </a:tcPr>
                </a:tc>
                <a:extLst>
                  <a:ext uri="{0D108BD9-81ED-4DB2-BD59-A6C34878D82A}">
                    <a16:rowId xmlns:a16="http://schemas.microsoft.com/office/drawing/2014/main" val="10008"/>
                  </a:ext>
                </a:extLst>
              </a:tr>
            </a:tbl>
          </a:graphicData>
        </a:graphic>
      </p:graphicFrame>
      <p:sp>
        <p:nvSpPr>
          <p:cNvPr id="5" name="Text 2"/>
          <p:cNvSpPr/>
          <p:nvPr/>
        </p:nvSpPr>
        <p:spPr>
          <a:xfrm>
            <a:off x="365760" y="4498848"/>
            <a:ext cx="8412480" cy="594360"/>
          </a:xfrm>
          <a:prstGeom prst="rect">
            <a:avLst/>
          </a:prstGeom>
          <a:noFill/>
          <a:ln/>
        </p:spPr>
        <p:txBody>
          <a:bodyPr wrap="square" rtlCol="0" anchor="ctr"/>
          <a:lstStyle/>
          <a:p>
            <a:pPr marL="0" indent="0">
              <a:buNone/>
            </a:pPr>
            <a:r>
              <a:rPr lang="en-US" sz="1000" i="1" dirty="0">
                <a:solidFill>
                  <a:srgbClr val="90B8D0"/>
                </a:solidFill>
                <a:latin typeface="Calibri" pitchFamily="34" charset="0"/>
                <a:ea typeface="Calibri" pitchFamily="34" charset="-122"/>
                <a:cs typeface="Calibri" pitchFamily="34" charset="-120"/>
              </a:rPr>
              <a:t>Conclusión: El modelo XGBoost logra una capacidad discriminativa genuina (ROC-AUC=0.768) sobre un problema de clase extremadamente desbalanceada (2.53% de migrantes). El umbral calibrado permite capturar el 39.7% de los migrantes reales, siendo 4.4× mejor que el azar. La discrepancia entre el 2.53% real y el 9.92% predicho debe comunicarse con transparencia en el uso de políticas públicas.</a:t>
            </a:r>
            <a:endParaRPr lang="en-US" sz="1000" dirty="0"/>
          </a:p>
        </p:txBody>
      </p:sp>
      <p:sp>
        <p:nvSpPr>
          <p:cNvPr id="6" name="Shape 3"/>
          <p:cNvSpPr/>
          <p:nvPr/>
        </p:nvSpPr>
        <p:spPr>
          <a:xfrm>
            <a:off x="0" y="5074920"/>
            <a:ext cx="9144000" cy="73152"/>
          </a:xfrm>
          <a:prstGeom prst="rect">
            <a:avLst/>
          </a:prstGeom>
          <a:solidFill>
            <a:srgbClr val="0D6E8A"/>
          </a:solidFill>
          <a:ln w="12700">
            <a:solidFill>
              <a:srgbClr val="0D6E8A"/>
            </a:solidFill>
            <a:prstDash val="solid"/>
          </a:ln>
        </p:spPr>
        <p:txBody>
          <a:bodyPr/>
          <a:lstStyle/>
          <a:p>
            <a:endParaRPr lang="es-CO"/>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190252"/>
            <a:ext cx="1370728" cy="1032741"/>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316609"/>
            <a:ext cx="484026" cy="48402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491355"/>
            <a:ext cx="515604" cy="51560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11062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4586625"/>
            <a:ext cx="1120884" cy="556875"/>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n 2">
            <a:extLst>
              <a:ext uri="{FF2B5EF4-FFF2-40B4-BE49-F238E27FC236}">
                <a16:creationId xmlns:a16="http://schemas.microsoft.com/office/drawing/2014/main" id="{8C48EB02-E23C-CB3B-1AB2-A4C8ED4B715C}"/>
              </a:ext>
            </a:extLst>
          </p:cNvPr>
          <p:cNvPicPr>
            <a:picLocks noChangeAspect="1"/>
          </p:cNvPicPr>
          <p:nvPr/>
        </p:nvPicPr>
        <p:blipFill>
          <a:blip r:embed="rId2"/>
          <a:stretch>
            <a:fillRect/>
          </a:stretch>
        </p:blipFill>
        <p:spPr>
          <a:xfrm>
            <a:off x="-1" y="1735"/>
            <a:ext cx="9144000" cy="5169874"/>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4839857"/>
            <a:ext cx="611177" cy="303643"/>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4308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2006</Words>
  <Application>Microsoft Office PowerPoint</Application>
  <PresentationFormat>Presentación en pantalla (16:9)</PresentationFormat>
  <Paragraphs>308</Paragraphs>
  <Slides>16</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Aptos Narrow</vt:lpstr>
      <vt:lpstr>Arial</vt:lpstr>
      <vt:lpstr>Calibri</vt:lpstr>
      <vt:lpstr>Google Sans Text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GEIH — Predicción de Migración Interna</dc:title>
  <dc:subject>PptxGenJS Presentation</dc:subject>
  <dc:creator>PptxGenJS</dc:creator>
  <cp:lastModifiedBy>Sala Computo 513</cp:lastModifiedBy>
  <cp:revision>7</cp:revision>
  <dcterms:created xsi:type="dcterms:W3CDTF">2026-05-19T01:29:33Z</dcterms:created>
  <dcterms:modified xsi:type="dcterms:W3CDTF">2026-05-19T12:30:04Z</dcterms:modified>
</cp:coreProperties>
</file>